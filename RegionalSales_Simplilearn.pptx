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13" d="100"/>
          <a:sy n="113" d="100"/>
        </p:scale>
        <p:origin x="586" y="7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29177836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0" y="4389120"/>
            <a:ext cx="9144000" cy="754380"/>
          </a:xfrm>
          <a:prstGeom prst="rect">
            <a:avLst/>
          </a:prstGeom>
          <a:solidFill>
            <a:srgbClr val="091A35">
              <a:alpha val="70000"/>
            </a:srgbClr>
          </a:solidFill>
          <a:ln/>
        </p:spPr>
      </p:sp>
      <p:sp>
        <p:nvSpPr>
          <p:cNvPr id="3" name="Text 1"/>
          <p:cNvSpPr/>
          <p:nvPr/>
        </p:nvSpPr>
        <p:spPr>
          <a:xfrm>
            <a:off x="182880" y="4846320"/>
            <a:ext cx="3657600" cy="228600"/>
          </a:xfrm>
          <a:prstGeom prst="rect">
            <a:avLst/>
          </a:prstGeom>
          <a:noFill/>
          <a:ln/>
        </p:spPr>
        <p:txBody>
          <a:bodyPr wrap="square" lIns="0" tIns="0" rIns="0" bIns="0" rtlCol="0" anchor="ctr"/>
          <a:lstStyle/>
          <a:p>
            <a:pPr marL="0" indent="0">
              <a:buNone/>
            </a:pPr>
            <a:r>
              <a:rPr lang="en-US" sz="900" dirty="0">
                <a:solidFill>
                  <a:srgbClr val="8FA8C0"/>
                </a:solidFill>
                <a:latin typeface="Calibri" pitchFamily="34" charset="0"/>
                <a:ea typeface="Calibri" pitchFamily="34" charset="-122"/>
                <a:cs typeface="Calibri" pitchFamily="34" charset="-120"/>
              </a:rPr>
              <a:t>©Simplilearn. All rights reserved.</a:t>
            </a:r>
            <a:endParaRPr lang="en-US" sz="900" dirty="0"/>
          </a:p>
        </p:txBody>
      </p:sp>
      <p:sp>
        <p:nvSpPr>
          <p:cNvPr id="4" name="Text 2"/>
          <p:cNvSpPr/>
          <p:nvPr/>
        </p:nvSpPr>
        <p:spPr>
          <a:xfrm>
            <a:off x="7863840" y="4846320"/>
            <a:ext cx="685800" cy="228600"/>
          </a:xfrm>
          <a:prstGeom prst="rect">
            <a:avLst/>
          </a:prstGeom>
          <a:noFill/>
          <a:ln/>
        </p:spPr>
        <p:txBody>
          <a:bodyPr wrap="square" lIns="0" tIns="0" rIns="0" bIns="0" rtlCol="0" anchor="ctr"/>
          <a:lstStyle/>
          <a:p>
            <a:pPr marL="0" indent="0">
              <a:buNone/>
            </a:pPr>
            <a:r>
              <a:rPr lang="en-US" sz="1100" b="1" dirty="0">
                <a:solidFill>
                  <a:srgbClr val="FFFFFF"/>
                </a:solidFill>
                <a:latin typeface="Arial" pitchFamily="34" charset="0"/>
                <a:ea typeface="Arial" pitchFamily="34" charset="-122"/>
                <a:cs typeface="Arial" pitchFamily="34" charset="-120"/>
              </a:rPr>
              <a:t>simpli</a:t>
            </a:r>
            <a:endParaRPr lang="en-US" sz="1100" dirty="0"/>
          </a:p>
        </p:txBody>
      </p:sp>
      <p:sp>
        <p:nvSpPr>
          <p:cNvPr id="5" name="Text 3"/>
          <p:cNvSpPr/>
          <p:nvPr/>
        </p:nvSpPr>
        <p:spPr>
          <a:xfrm>
            <a:off x="8549640" y="4846320"/>
            <a:ext cx="548640" cy="228600"/>
          </a:xfrm>
          <a:prstGeom prst="rect">
            <a:avLst/>
          </a:prstGeom>
          <a:noFill/>
          <a:ln/>
        </p:spPr>
        <p:txBody>
          <a:bodyPr wrap="square" lIns="0" tIns="0" rIns="0" bIns="0" rtlCol="0" anchor="ctr"/>
          <a:lstStyle/>
          <a:p>
            <a:pPr marL="0" indent="0">
              <a:buNone/>
            </a:pPr>
            <a:r>
              <a:rPr lang="en-US" sz="1100" b="1" dirty="0">
                <a:solidFill>
                  <a:srgbClr val="FF6B35"/>
                </a:solidFill>
                <a:latin typeface="Arial" pitchFamily="34" charset="0"/>
                <a:ea typeface="Arial" pitchFamily="34" charset="-122"/>
                <a:cs typeface="Arial" pitchFamily="34" charset="-120"/>
              </a:rPr>
              <a:t>learn</a:t>
            </a:r>
            <a:endParaRPr lang="en-US" sz="1100" dirty="0"/>
          </a:p>
        </p:txBody>
      </p:sp>
      <p:sp>
        <p:nvSpPr>
          <p:cNvPr id="6" name="Text 4"/>
          <p:cNvSpPr/>
          <p:nvPr/>
        </p:nvSpPr>
        <p:spPr>
          <a:xfrm>
            <a:off x="274320" y="182880"/>
            <a:ext cx="3657600" cy="365760"/>
          </a:xfrm>
          <a:prstGeom prst="rect">
            <a:avLst/>
          </a:prstGeom>
          <a:noFill/>
          <a:ln/>
        </p:spPr>
        <p:txBody>
          <a:bodyPr wrap="square" lIns="0" tIns="0" rIns="0" bIns="0" rtlCol="0" anchor="ctr"/>
          <a:lstStyle/>
          <a:p>
            <a:pPr marL="0" indent="0">
              <a:buNone/>
            </a:pPr>
            <a:r>
              <a:rPr lang="en-US" sz="2000" b="1" dirty="0">
                <a:solidFill>
                  <a:srgbClr val="1A4A8A"/>
                </a:solidFill>
                <a:latin typeface="Arial Black" pitchFamily="34" charset="0"/>
                <a:ea typeface="Arial Black" pitchFamily="34" charset="-122"/>
                <a:cs typeface="Arial Black" pitchFamily="34" charset="-120"/>
              </a:rPr>
              <a:t>DATA AND</a:t>
            </a:r>
            <a:endParaRPr lang="en-US" sz="2000" dirty="0"/>
          </a:p>
        </p:txBody>
      </p:sp>
      <p:sp>
        <p:nvSpPr>
          <p:cNvPr id="7" name="Text 5"/>
          <p:cNvSpPr/>
          <p:nvPr/>
        </p:nvSpPr>
        <p:spPr>
          <a:xfrm>
            <a:off x="274320" y="502920"/>
            <a:ext cx="4572000" cy="274320"/>
          </a:xfrm>
          <a:prstGeom prst="rect">
            <a:avLst/>
          </a:prstGeom>
          <a:noFill/>
          <a:ln/>
        </p:spPr>
        <p:txBody>
          <a:bodyPr wrap="square" lIns="0" tIns="0" rIns="0" bIns="0" rtlCol="0" anchor="ctr"/>
          <a:lstStyle/>
          <a:p>
            <a:pPr marL="0" indent="0">
              <a:buNone/>
            </a:pPr>
            <a:r>
              <a:rPr lang="en-US" sz="1000" b="1" dirty="0">
                <a:solidFill>
                  <a:srgbClr val="1A4A8A"/>
                </a:solidFill>
                <a:latin typeface="Arial" pitchFamily="34" charset="0"/>
                <a:ea typeface="Arial" pitchFamily="34" charset="-122"/>
                <a:cs typeface="Arial" pitchFamily="34" charset="-120"/>
              </a:rPr>
              <a:t>ARTIFICIAL INTELLIGENCE</a:t>
            </a:r>
            <a:endParaRPr lang="en-US" sz="1000" dirty="0"/>
          </a:p>
        </p:txBody>
      </p:sp>
      <p:sp>
        <p:nvSpPr>
          <p:cNvPr id="8" name="Text 6"/>
          <p:cNvSpPr/>
          <p:nvPr/>
        </p:nvSpPr>
        <p:spPr>
          <a:xfrm>
            <a:off x="4114800" y="2011680"/>
            <a:ext cx="4754880" cy="594360"/>
          </a:xfrm>
          <a:prstGeom prst="rect">
            <a:avLst/>
          </a:prstGeom>
          <a:noFill/>
          <a:ln/>
        </p:spPr>
        <p:txBody>
          <a:bodyPr wrap="square" lIns="0" tIns="0" rIns="0" bIns="0" rtlCol="0" anchor="ctr"/>
          <a:lstStyle/>
          <a:p>
            <a:pPr marL="0" indent="0" algn="ctr">
              <a:buNone/>
            </a:pPr>
            <a:r>
              <a:rPr lang="en-US" sz="2600" b="1" dirty="0">
                <a:solidFill>
                  <a:srgbClr val="FFFFFF"/>
                </a:solidFill>
                <a:latin typeface="Calibri" pitchFamily="34" charset="0"/>
                <a:ea typeface="Calibri" pitchFamily="34" charset="-122"/>
                <a:cs typeface="Calibri" pitchFamily="34" charset="-120"/>
              </a:rPr>
              <a:t>Tableau Training</a:t>
            </a:r>
            <a:endParaRPr lang="en-US" sz="2600" dirty="0"/>
          </a:p>
        </p:txBody>
      </p:sp>
      <p:sp>
        <p:nvSpPr>
          <p:cNvPr id="9" name="Text 7"/>
          <p:cNvSpPr/>
          <p:nvPr/>
        </p:nvSpPr>
        <p:spPr>
          <a:xfrm>
            <a:off x="4114800" y="2651760"/>
            <a:ext cx="4754880" cy="457200"/>
          </a:xfrm>
          <a:prstGeom prst="rect">
            <a:avLst/>
          </a:prstGeom>
          <a:noFill/>
          <a:ln/>
        </p:spPr>
        <p:txBody>
          <a:bodyPr wrap="square" lIns="0" tIns="0" rIns="0" bIns="0" rtlCol="0" anchor="ctr"/>
          <a:lstStyle/>
          <a:p>
            <a:pPr marL="0" indent="0" algn="ctr">
              <a:buNone/>
            </a:pPr>
            <a:r>
              <a:rPr lang="en-US" sz="2200" dirty="0">
                <a:solidFill>
                  <a:srgbClr val="B8D4EE"/>
                </a:solidFill>
                <a:latin typeface="Calibri" pitchFamily="34" charset="0"/>
                <a:ea typeface="Calibri" pitchFamily="34" charset="-122"/>
                <a:cs typeface="Calibri" pitchFamily="34" charset="-120"/>
              </a:rPr>
              <a:t>Course-end Project</a:t>
            </a:r>
            <a:endParaRPr lang="en-US" sz="2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0" y="4389120"/>
            <a:ext cx="9144000" cy="754380"/>
          </a:xfrm>
          <a:prstGeom prst="rect">
            <a:avLst/>
          </a:prstGeom>
          <a:solidFill>
            <a:srgbClr val="091A35">
              <a:alpha val="70000"/>
            </a:srgbClr>
          </a:solidFill>
          <a:ln/>
        </p:spPr>
      </p:sp>
      <p:sp>
        <p:nvSpPr>
          <p:cNvPr id="3" name="Text 1"/>
          <p:cNvSpPr/>
          <p:nvPr/>
        </p:nvSpPr>
        <p:spPr>
          <a:xfrm>
            <a:off x="182880" y="4846320"/>
            <a:ext cx="3657600" cy="228600"/>
          </a:xfrm>
          <a:prstGeom prst="rect">
            <a:avLst/>
          </a:prstGeom>
          <a:noFill/>
          <a:ln/>
        </p:spPr>
        <p:txBody>
          <a:bodyPr wrap="square" lIns="0" tIns="0" rIns="0" bIns="0" rtlCol="0" anchor="ctr"/>
          <a:lstStyle/>
          <a:p>
            <a:pPr marL="0" indent="0">
              <a:buNone/>
            </a:pPr>
            <a:r>
              <a:rPr lang="en-US" sz="900" dirty="0">
                <a:solidFill>
                  <a:srgbClr val="8FA8C0"/>
                </a:solidFill>
                <a:latin typeface="Calibri" pitchFamily="34" charset="0"/>
                <a:ea typeface="Calibri" pitchFamily="34" charset="-122"/>
                <a:cs typeface="Calibri" pitchFamily="34" charset="-120"/>
              </a:rPr>
              <a:t>©Simplilearn. All rights reserved.</a:t>
            </a:r>
            <a:endParaRPr lang="en-US" sz="900" dirty="0"/>
          </a:p>
        </p:txBody>
      </p:sp>
      <p:sp>
        <p:nvSpPr>
          <p:cNvPr id="4" name="Text 2"/>
          <p:cNvSpPr/>
          <p:nvPr/>
        </p:nvSpPr>
        <p:spPr>
          <a:xfrm>
            <a:off x="7863840" y="4846320"/>
            <a:ext cx="685800" cy="228600"/>
          </a:xfrm>
          <a:prstGeom prst="rect">
            <a:avLst/>
          </a:prstGeom>
          <a:noFill/>
          <a:ln/>
        </p:spPr>
        <p:txBody>
          <a:bodyPr wrap="square" lIns="0" tIns="0" rIns="0" bIns="0" rtlCol="0" anchor="ctr"/>
          <a:lstStyle/>
          <a:p>
            <a:pPr marL="0" indent="0">
              <a:buNone/>
            </a:pPr>
            <a:r>
              <a:rPr lang="en-US" sz="1100" b="1" dirty="0">
                <a:solidFill>
                  <a:srgbClr val="FFFFFF"/>
                </a:solidFill>
                <a:latin typeface="Arial" pitchFamily="34" charset="0"/>
                <a:ea typeface="Arial" pitchFamily="34" charset="-122"/>
                <a:cs typeface="Arial" pitchFamily="34" charset="-120"/>
              </a:rPr>
              <a:t>simpli</a:t>
            </a:r>
            <a:endParaRPr lang="en-US" sz="1100" dirty="0"/>
          </a:p>
        </p:txBody>
      </p:sp>
      <p:sp>
        <p:nvSpPr>
          <p:cNvPr id="5" name="Text 3"/>
          <p:cNvSpPr/>
          <p:nvPr/>
        </p:nvSpPr>
        <p:spPr>
          <a:xfrm>
            <a:off x="8549640" y="4846320"/>
            <a:ext cx="548640" cy="228600"/>
          </a:xfrm>
          <a:prstGeom prst="rect">
            <a:avLst/>
          </a:prstGeom>
          <a:noFill/>
          <a:ln/>
        </p:spPr>
        <p:txBody>
          <a:bodyPr wrap="square" lIns="0" tIns="0" rIns="0" bIns="0" rtlCol="0" anchor="ctr"/>
          <a:lstStyle/>
          <a:p>
            <a:pPr marL="0" indent="0">
              <a:buNone/>
            </a:pPr>
            <a:r>
              <a:rPr lang="en-US" sz="1100" b="1" dirty="0">
                <a:solidFill>
                  <a:srgbClr val="FF6B35"/>
                </a:solidFill>
                <a:latin typeface="Arial" pitchFamily="34" charset="0"/>
                <a:ea typeface="Arial" pitchFamily="34" charset="-122"/>
                <a:cs typeface="Arial" pitchFamily="34" charset="-120"/>
              </a:rPr>
              <a:t>learn</a:t>
            </a:r>
            <a:endParaRPr lang="en-US" sz="1100" dirty="0"/>
          </a:p>
        </p:txBody>
      </p:sp>
      <p:sp>
        <p:nvSpPr>
          <p:cNvPr id="6" name="Text 4"/>
          <p:cNvSpPr/>
          <p:nvPr/>
        </p:nvSpPr>
        <p:spPr>
          <a:xfrm>
            <a:off x="274320" y="182880"/>
            <a:ext cx="3657600" cy="365760"/>
          </a:xfrm>
          <a:prstGeom prst="rect">
            <a:avLst/>
          </a:prstGeom>
          <a:noFill/>
          <a:ln/>
        </p:spPr>
        <p:txBody>
          <a:bodyPr wrap="square" lIns="0" tIns="0" rIns="0" bIns="0" rtlCol="0" anchor="ctr"/>
          <a:lstStyle/>
          <a:p>
            <a:pPr marL="0" indent="0">
              <a:buNone/>
            </a:pPr>
            <a:r>
              <a:rPr lang="en-US" sz="2000" b="1" dirty="0">
                <a:solidFill>
                  <a:srgbClr val="1A4A8A"/>
                </a:solidFill>
                <a:latin typeface="Arial Black" pitchFamily="34" charset="0"/>
                <a:ea typeface="Arial Black" pitchFamily="34" charset="-122"/>
                <a:cs typeface="Arial Black" pitchFamily="34" charset="-120"/>
              </a:rPr>
              <a:t>DATA AND</a:t>
            </a:r>
            <a:endParaRPr lang="en-US" sz="2000" dirty="0"/>
          </a:p>
        </p:txBody>
      </p:sp>
      <p:sp>
        <p:nvSpPr>
          <p:cNvPr id="7" name="Text 5"/>
          <p:cNvSpPr/>
          <p:nvPr/>
        </p:nvSpPr>
        <p:spPr>
          <a:xfrm>
            <a:off x="274320" y="502920"/>
            <a:ext cx="4572000" cy="274320"/>
          </a:xfrm>
          <a:prstGeom prst="rect">
            <a:avLst/>
          </a:prstGeom>
          <a:noFill/>
          <a:ln/>
        </p:spPr>
        <p:txBody>
          <a:bodyPr wrap="square" lIns="0" tIns="0" rIns="0" bIns="0" rtlCol="0" anchor="ctr"/>
          <a:lstStyle/>
          <a:p>
            <a:pPr marL="0" indent="0">
              <a:buNone/>
            </a:pPr>
            <a:r>
              <a:rPr lang="en-US" sz="1000" b="1" dirty="0">
                <a:solidFill>
                  <a:srgbClr val="1A4A8A"/>
                </a:solidFill>
                <a:latin typeface="Arial" pitchFamily="34" charset="0"/>
                <a:ea typeface="Arial" pitchFamily="34" charset="-122"/>
                <a:cs typeface="Arial" pitchFamily="34" charset="-120"/>
              </a:rPr>
              <a:t>ARTIFICIAL INTELLIGENCE</a:t>
            </a:r>
            <a:endParaRPr lang="en-US" sz="1000" dirty="0"/>
          </a:p>
        </p:txBody>
      </p:sp>
      <p:sp>
        <p:nvSpPr>
          <p:cNvPr id="8" name="Text 6"/>
          <p:cNvSpPr/>
          <p:nvPr/>
        </p:nvSpPr>
        <p:spPr>
          <a:xfrm>
            <a:off x="1371600" y="2194560"/>
            <a:ext cx="6400800" cy="731520"/>
          </a:xfrm>
          <a:prstGeom prst="rect">
            <a:avLst/>
          </a:prstGeom>
          <a:noFill/>
          <a:ln/>
        </p:spPr>
        <p:txBody>
          <a:bodyPr wrap="square" lIns="0" tIns="0" rIns="0" bIns="0" rtlCol="0" anchor="ctr"/>
          <a:lstStyle/>
          <a:p>
            <a:pPr marL="0" indent="0" algn="ctr">
              <a:buNone/>
            </a:pPr>
            <a:r>
              <a:rPr lang="en-US" sz="2800" b="1" dirty="0">
                <a:solidFill>
                  <a:srgbClr val="FFFFFF"/>
                </a:solidFill>
                <a:latin typeface="Calibri" pitchFamily="34" charset="0"/>
                <a:ea typeface="Calibri" pitchFamily="34" charset="-122"/>
                <a:cs typeface="Calibri" pitchFamily="34" charset="-120"/>
              </a:rPr>
              <a:t>Comparison of Region Based on Sales</a:t>
            </a:r>
            <a:endParaRPr lang="en-US" sz="2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3" name="Text 1"/>
          <p:cNvSpPr/>
          <p:nvPr/>
        </p:nvSpPr>
        <p:spPr>
          <a:xfrm>
            <a:off x="914400" y="457200"/>
            <a:ext cx="4572000" cy="548640"/>
          </a:xfrm>
          <a:prstGeom prst="rect">
            <a:avLst/>
          </a:prstGeom>
          <a:noFill/>
          <a:ln/>
        </p:spPr>
        <p:txBody>
          <a:bodyPr wrap="square" lIns="0" tIns="0" rIns="0" bIns="0" rtlCol="0" anchor="ctr"/>
          <a:lstStyle/>
          <a:p>
            <a:pPr marL="0" indent="0">
              <a:buNone/>
            </a:pPr>
            <a:r>
              <a:rPr lang="en-US" sz="2600" b="1" dirty="0">
                <a:solidFill>
                  <a:srgbClr val="222222"/>
                </a:solidFill>
                <a:latin typeface="Calibri" pitchFamily="34" charset="0"/>
                <a:ea typeface="Calibri" pitchFamily="34" charset="-122"/>
                <a:cs typeface="Calibri" pitchFamily="34" charset="-120"/>
              </a:rPr>
              <a:t>Objectives</a:t>
            </a:r>
            <a:endParaRPr lang="en-US" sz="2600" dirty="0"/>
          </a:p>
        </p:txBody>
      </p:sp>
      <p:sp>
        <p:nvSpPr>
          <p:cNvPr id="4" name="Shape 2"/>
          <p:cNvSpPr/>
          <p:nvPr/>
        </p:nvSpPr>
        <p:spPr>
          <a:xfrm>
            <a:off x="914400" y="1024128"/>
            <a:ext cx="1645920" cy="0"/>
          </a:xfrm>
          <a:prstGeom prst="line">
            <a:avLst/>
          </a:prstGeom>
          <a:noFill/>
          <a:ln w="38100">
            <a:solidFill>
              <a:srgbClr val="00B4F0"/>
            </a:solidFill>
            <a:prstDash val="solid"/>
          </a:ln>
        </p:spPr>
      </p:sp>
      <p:sp>
        <p:nvSpPr>
          <p:cNvPr id="5" name="Text 3"/>
          <p:cNvSpPr/>
          <p:nvPr/>
        </p:nvSpPr>
        <p:spPr>
          <a:xfrm>
            <a:off x="914400" y="1280160"/>
            <a:ext cx="5029200" cy="1371600"/>
          </a:xfrm>
          <a:prstGeom prst="rect">
            <a:avLst/>
          </a:prstGeom>
          <a:noFill/>
          <a:ln/>
        </p:spPr>
        <p:txBody>
          <a:bodyPr wrap="square" rtlCol="0" anchor="t"/>
          <a:lstStyle/>
          <a:p>
            <a:pPr marL="342900" indent="-342900">
              <a:buSzPct val="100000"/>
              <a:buChar char="•"/>
            </a:pPr>
            <a:r>
              <a:rPr lang="en-US" sz="1800" dirty="0">
                <a:solidFill>
                  <a:srgbClr val="333333"/>
                </a:solidFill>
                <a:latin typeface="Calibri" pitchFamily="34" charset="0"/>
                <a:ea typeface="Calibri" pitchFamily="34" charset="-122"/>
                <a:cs typeface="Calibri" pitchFamily="34" charset="-120"/>
              </a:rPr>
              <a:t>Create a dashboard to visualize the sales comparison between two selected regions</a:t>
            </a:r>
            <a:endParaRPr lang="en-US" sz="1800" dirty="0"/>
          </a:p>
        </p:txBody>
      </p:sp>
      <p:sp>
        <p:nvSpPr>
          <p:cNvPr id="6" name="Shape 4"/>
          <p:cNvSpPr/>
          <p:nvPr/>
        </p:nvSpPr>
        <p:spPr>
          <a:xfrm>
            <a:off x="0" y="4480560"/>
            <a:ext cx="9144000" cy="662940"/>
          </a:xfrm>
          <a:prstGeom prst="rect">
            <a:avLst/>
          </a:prstGeom>
          <a:solidFill>
            <a:srgbClr val="0A1628"/>
          </a:solidFill>
          <a:ln/>
        </p:spPr>
      </p:sp>
      <p:sp>
        <p:nvSpPr>
          <p:cNvPr id="7" name="Text 5"/>
          <p:cNvSpPr/>
          <p:nvPr/>
        </p:nvSpPr>
        <p:spPr>
          <a:xfrm>
            <a:off x="182880" y="4709160"/>
            <a:ext cx="3657600" cy="228600"/>
          </a:xfrm>
          <a:prstGeom prst="rect">
            <a:avLst/>
          </a:prstGeom>
          <a:noFill/>
          <a:ln/>
        </p:spPr>
        <p:txBody>
          <a:bodyPr wrap="square" lIns="0" tIns="0" rIns="0" bIns="0" rtlCol="0" anchor="ctr"/>
          <a:lstStyle/>
          <a:p>
            <a:pPr marL="0" indent="0">
              <a:buNone/>
            </a:pPr>
            <a:r>
              <a:rPr lang="en-US" sz="900" dirty="0">
                <a:solidFill>
                  <a:srgbClr val="8FA8C0"/>
                </a:solidFill>
                <a:latin typeface="Calibri" pitchFamily="34" charset="0"/>
                <a:ea typeface="Calibri" pitchFamily="34" charset="-122"/>
                <a:cs typeface="Calibri" pitchFamily="34" charset="-120"/>
              </a:rPr>
              <a:t>©Simplilearn. All rights reserved.</a:t>
            </a:r>
            <a:endParaRPr lang="en-US" sz="900" dirty="0"/>
          </a:p>
        </p:txBody>
      </p:sp>
      <p:sp>
        <p:nvSpPr>
          <p:cNvPr id="8" name="Text 6"/>
          <p:cNvSpPr/>
          <p:nvPr/>
        </p:nvSpPr>
        <p:spPr>
          <a:xfrm>
            <a:off x="7863840" y="4709160"/>
            <a:ext cx="685800" cy="228600"/>
          </a:xfrm>
          <a:prstGeom prst="rect">
            <a:avLst/>
          </a:prstGeom>
          <a:noFill/>
          <a:ln/>
        </p:spPr>
        <p:txBody>
          <a:bodyPr wrap="square" lIns="0" tIns="0" rIns="0" bIns="0" rtlCol="0" anchor="ctr"/>
          <a:lstStyle/>
          <a:p>
            <a:pPr marL="0" indent="0">
              <a:buNone/>
            </a:pPr>
            <a:r>
              <a:rPr lang="en-US" sz="1100" b="1" dirty="0">
                <a:solidFill>
                  <a:srgbClr val="FFFFFF"/>
                </a:solidFill>
                <a:latin typeface="Arial" pitchFamily="34" charset="0"/>
                <a:ea typeface="Arial" pitchFamily="34" charset="-122"/>
                <a:cs typeface="Arial" pitchFamily="34" charset="-120"/>
              </a:rPr>
              <a:t>simpli</a:t>
            </a:r>
            <a:endParaRPr lang="en-US" sz="1100" dirty="0"/>
          </a:p>
        </p:txBody>
      </p:sp>
      <p:sp>
        <p:nvSpPr>
          <p:cNvPr id="9" name="Text 7"/>
          <p:cNvSpPr/>
          <p:nvPr/>
        </p:nvSpPr>
        <p:spPr>
          <a:xfrm>
            <a:off x="8549640" y="4709160"/>
            <a:ext cx="548640" cy="228600"/>
          </a:xfrm>
          <a:prstGeom prst="rect">
            <a:avLst/>
          </a:prstGeom>
          <a:noFill/>
          <a:ln/>
        </p:spPr>
        <p:txBody>
          <a:bodyPr wrap="square" lIns="0" tIns="0" rIns="0" bIns="0" rtlCol="0" anchor="ctr"/>
          <a:lstStyle/>
          <a:p>
            <a:pPr marL="0" indent="0">
              <a:buNone/>
            </a:pPr>
            <a:r>
              <a:rPr lang="en-US" sz="1100" b="1" dirty="0">
                <a:solidFill>
                  <a:srgbClr val="FF6B35"/>
                </a:solidFill>
                <a:latin typeface="Arial" pitchFamily="34" charset="0"/>
                <a:ea typeface="Arial" pitchFamily="34" charset="-122"/>
                <a:cs typeface="Arial" pitchFamily="34" charset="-120"/>
              </a:rPr>
              <a:t>learn</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0" y="4389120"/>
            <a:ext cx="9144000" cy="754380"/>
          </a:xfrm>
          <a:prstGeom prst="rect">
            <a:avLst/>
          </a:prstGeom>
          <a:solidFill>
            <a:srgbClr val="091A35">
              <a:alpha val="70000"/>
            </a:srgbClr>
          </a:solidFill>
          <a:ln/>
        </p:spPr>
      </p:sp>
      <p:sp>
        <p:nvSpPr>
          <p:cNvPr id="3" name="Text 1"/>
          <p:cNvSpPr/>
          <p:nvPr/>
        </p:nvSpPr>
        <p:spPr>
          <a:xfrm>
            <a:off x="182880" y="4846320"/>
            <a:ext cx="3657600" cy="228600"/>
          </a:xfrm>
          <a:prstGeom prst="rect">
            <a:avLst/>
          </a:prstGeom>
          <a:noFill/>
          <a:ln/>
        </p:spPr>
        <p:txBody>
          <a:bodyPr wrap="square" lIns="0" tIns="0" rIns="0" bIns="0" rtlCol="0" anchor="ctr"/>
          <a:lstStyle/>
          <a:p>
            <a:pPr marL="0" indent="0">
              <a:buNone/>
            </a:pPr>
            <a:r>
              <a:rPr lang="en-US" sz="900" dirty="0">
                <a:solidFill>
                  <a:srgbClr val="8FA8C0"/>
                </a:solidFill>
                <a:latin typeface="Calibri" pitchFamily="34" charset="0"/>
                <a:ea typeface="Calibri" pitchFamily="34" charset="-122"/>
                <a:cs typeface="Calibri" pitchFamily="34" charset="-120"/>
              </a:rPr>
              <a:t>©Simplilearn. All rights reserved.</a:t>
            </a:r>
            <a:endParaRPr lang="en-US" sz="900" dirty="0"/>
          </a:p>
        </p:txBody>
      </p:sp>
      <p:sp>
        <p:nvSpPr>
          <p:cNvPr id="4" name="Text 2"/>
          <p:cNvSpPr/>
          <p:nvPr/>
        </p:nvSpPr>
        <p:spPr>
          <a:xfrm>
            <a:off x="7863840" y="4846320"/>
            <a:ext cx="685800" cy="228600"/>
          </a:xfrm>
          <a:prstGeom prst="rect">
            <a:avLst/>
          </a:prstGeom>
          <a:noFill/>
          <a:ln/>
        </p:spPr>
        <p:txBody>
          <a:bodyPr wrap="square" lIns="0" tIns="0" rIns="0" bIns="0" rtlCol="0" anchor="ctr"/>
          <a:lstStyle/>
          <a:p>
            <a:pPr marL="0" indent="0">
              <a:buNone/>
            </a:pPr>
            <a:r>
              <a:rPr lang="en-US" sz="1100" b="1" dirty="0">
                <a:solidFill>
                  <a:srgbClr val="FFFFFF"/>
                </a:solidFill>
                <a:latin typeface="Arial" pitchFamily="34" charset="0"/>
                <a:ea typeface="Arial" pitchFamily="34" charset="-122"/>
                <a:cs typeface="Arial" pitchFamily="34" charset="-120"/>
              </a:rPr>
              <a:t>simpli</a:t>
            </a:r>
            <a:endParaRPr lang="en-US" sz="1100" dirty="0"/>
          </a:p>
        </p:txBody>
      </p:sp>
      <p:sp>
        <p:nvSpPr>
          <p:cNvPr id="5" name="Text 3"/>
          <p:cNvSpPr/>
          <p:nvPr/>
        </p:nvSpPr>
        <p:spPr>
          <a:xfrm>
            <a:off x="8549640" y="4846320"/>
            <a:ext cx="548640" cy="228600"/>
          </a:xfrm>
          <a:prstGeom prst="rect">
            <a:avLst/>
          </a:prstGeom>
          <a:noFill/>
          <a:ln/>
        </p:spPr>
        <p:txBody>
          <a:bodyPr wrap="square" lIns="0" tIns="0" rIns="0" bIns="0" rtlCol="0" anchor="ctr"/>
          <a:lstStyle/>
          <a:p>
            <a:pPr marL="0" indent="0">
              <a:buNone/>
            </a:pPr>
            <a:r>
              <a:rPr lang="en-US" sz="1100" b="1" dirty="0">
                <a:solidFill>
                  <a:srgbClr val="FF6B35"/>
                </a:solidFill>
                <a:latin typeface="Arial" pitchFamily="34" charset="0"/>
                <a:ea typeface="Arial" pitchFamily="34" charset="-122"/>
                <a:cs typeface="Arial" pitchFamily="34" charset="-120"/>
              </a:rPr>
              <a:t>learn</a:t>
            </a:r>
            <a:endParaRPr lang="en-US" sz="1100" dirty="0"/>
          </a:p>
        </p:txBody>
      </p:sp>
      <p:sp>
        <p:nvSpPr>
          <p:cNvPr id="6" name="Text 4"/>
          <p:cNvSpPr/>
          <p:nvPr/>
        </p:nvSpPr>
        <p:spPr>
          <a:xfrm>
            <a:off x="274320" y="182880"/>
            <a:ext cx="3657600" cy="365760"/>
          </a:xfrm>
          <a:prstGeom prst="rect">
            <a:avLst/>
          </a:prstGeom>
          <a:noFill/>
          <a:ln/>
        </p:spPr>
        <p:txBody>
          <a:bodyPr wrap="square" lIns="0" tIns="0" rIns="0" bIns="0" rtlCol="0" anchor="ctr"/>
          <a:lstStyle/>
          <a:p>
            <a:pPr marL="0" indent="0">
              <a:buNone/>
            </a:pPr>
            <a:r>
              <a:rPr lang="en-US" sz="2000" b="1" dirty="0">
                <a:solidFill>
                  <a:srgbClr val="1A4A8A"/>
                </a:solidFill>
                <a:latin typeface="Arial Black" pitchFamily="34" charset="0"/>
                <a:ea typeface="Arial Black" pitchFamily="34" charset="-122"/>
                <a:cs typeface="Arial Black" pitchFamily="34" charset="-120"/>
              </a:rPr>
              <a:t>DATA AND</a:t>
            </a:r>
            <a:endParaRPr lang="en-US" sz="2000" dirty="0"/>
          </a:p>
        </p:txBody>
      </p:sp>
      <p:sp>
        <p:nvSpPr>
          <p:cNvPr id="7" name="Text 5"/>
          <p:cNvSpPr/>
          <p:nvPr/>
        </p:nvSpPr>
        <p:spPr>
          <a:xfrm>
            <a:off x="274320" y="502920"/>
            <a:ext cx="4572000" cy="274320"/>
          </a:xfrm>
          <a:prstGeom prst="rect">
            <a:avLst/>
          </a:prstGeom>
          <a:noFill/>
          <a:ln/>
        </p:spPr>
        <p:txBody>
          <a:bodyPr wrap="square" lIns="0" tIns="0" rIns="0" bIns="0" rtlCol="0" anchor="ctr"/>
          <a:lstStyle/>
          <a:p>
            <a:pPr marL="0" indent="0">
              <a:buNone/>
            </a:pPr>
            <a:r>
              <a:rPr lang="en-US" sz="1000" b="1" dirty="0">
                <a:solidFill>
                  <a:srgbClr val="1A4A8A"/>
                </a:solidFill>
                <a:latin typeface="Arial" pitchFamily="34" charset="0"/>
                <a:ea typeface="Arial" pitchFamily="34" charset="-122"/>
                <a:cs typeface="Arial" pitchFamily="34" charset="-120"/>
              </a:rPr>
              <a:t>ARTIFICIAL INTELLIGENCE</a:t>
            </a:r>
            <a:endParaRPr lang="en-US" sz="1000" dirty="0"/>
          </a:p>
        </p:txBody>
      </p:sp>
      <p:sp>
        <p:nvSpPr>
          <p:cNvPr id="8" name="Shape 6"/>
          <p:cNvSpPr/>
          <p:nvPr/>
        </p:nvSpPr>
        <p:spPr>
          <a:xfrm>
            <a:off x="3840480" y="822960"/>
            <a:ext cx="5029200" cy="3749040"/>
          </a:xfrm>
          <a:prstGeom prst="roundRect">
            <a:avLst>
              <a:gd name="adj" fmla="val 2927"/>
            </a:avLst>
          </a:prstGeom>
          <a:solidFill>
            <a:srgbClr val="112B55"/>
          </a:solidFill>
          <a:ln w="12700">
            <a:solidFill>
              <a:srgbClr val="1A3A6B"/>
            </a:solidFill>
            <a:prstDash val="solid"/>
          </a:ln>
        </p:spPr>
      </p:sp>
      <p:sp>
        <p:nvSpPr>
          <p:cNvPr id="9" name="Text 7"/>
          <p:cNvSpPr/>
          <p:nvPr/>
        </p:nvSpPr>
        <p:spPr>
          <a:xfrm>
            <a:off x="4114800" y="1005840"/>
            <a:ext cx="4480560" cy="502920"/>
          </a:xfrm>
          <a:prstGeom prst="rect">
            <a:avLst/>
          </a:prstGeom>
          <a:noFill/>
          <a:ln/>
        </p:spPr>
        <p:txBody>
          <a:bodyPr wrap="square" lIns="0" tIns="0" rIns="0" bIns="0" rtlCol="0" anchor="ctr"/>
          <a:lstStyle/>
          <a:p>
            <a:pPr marL="0" indent="0">
              <a:buNone/>
            </a:pPr>
            <a:r>
              <a:rPr lang="en-US" sz="2400" b="1" dirty="0">
                <a:solidFill>
                  <a:srgbClr val="FFFFFF"/>
                </a:solidFill>
                <a:latin typeface="Calibri" pitchFamily="34" charset="0"/>
                <a:ea typeface="Calibri" pitchFamily="34" charset="-122"/>
                <a:cs typeface="Calibri" pitchFamily="34" charset="-120"/>
              </a:rPr>
              <a:t>Prerequisites</a:t>
            </a:r>
            <a:endParaRPr lang="en-US" sz="2400" dirty="0"/>
          </a:p>
        </p:txBody>
      </p:sp>
      <p:sp>
        <p:nvSpPr>
          <p:cNvPr id="10" name="Text 8"/>
          <p:cNvSpPr/>
          <p:nvPr/>
        </p:nvSpPr>
        <p:spPr>
          <a:xfrm>
            <a:off x="4114800" y="1691640"/>
            <a:ext cx="4480560" cy="2286000"/>
          </a:xfrm>
          <a:prstGeom prst="rect">
            <a:avLst/>
          </a:prstGeom>
          <a:noFill/>
          <a:ln/>
        </p:spPr>
        <p:txBody>
          <a:bodyPr wrap="square" rtlCol="0" anchor="t"/>
          <a:lstStyle/>
          <a:p>
            <a:pPr marL="342900" indent="-342900">
              <a:buSzPct val="100000"/>
              <a:buChar char="•"/>
            </a:pPr>
            <a:r>
              <a:rPr lang="en-US" sz="1800" dirty="0">
                <a:solidFill>
                  <a:srgbClr val="FFFFFF"/>
                </a:solidFill>
                <a:latin typeface="Calibri" pitchFamily="34" charset="0"/>
                <a:ea typeface="Calibri" pitchFamily="34" charset="-122"/>
                <a:cs typeface="Calibri" pitchFamily="34" charset="-120"/>
              </a:rPr>
              <a:t>Hierarchy</a:t>
            </a:r>
            <a:endParaRPr lang="en-US" sz="1800" dirty="0"/>
          </a:p>
          <a:p>
            <a:pPr marL="342900" indent="-342900">
              <a:buSzPct val="100000"/>
              <a:buChar char="•"/>
            </a:pPr>
            <a:r>
              <a:rPr lang="en-US" sz="1800" dirty="0">
                <a:solidFill>
                  <a:srgbClr val="FFFFFF"/>
                </a:solidFill>
                <a:latin typeface="Calibri" pitchFamily="34" charset="0"/>
                <a:ea typeface="Calibri" pitchFamily="34" charset="-122"/>
                <a:cs typeface="Calibri" pitchFamily="34" charset="-120"/>
              </a:rPr>
              <a:t>Parameters</a:t>
            </a:r>
            <a:endParaRPr lang="en-US" sz="1800" dirty="0"/>
          </a:p>
          <a:p>
            <a:pPr marL="342900" indent="-342900">
              <a:buSzPct val="100000"/>
              <a:buChar char="•"/>
            </a:pPr>
            <a:r>
              <a:rPr lang="en-US" sz="1800" dirty="0">
                <a:solidFill>
                  <a:srgbClr val="FFFFFF"/>
                </a:solidFill>
                <a:latin typeface="Calibri" pitchFamily="34" charset="0"/>
                <a:ea typeface="Calibri" pitchFamily="34" charset="-122"/>
                <a:cs typeface="Calibri" pitchFamily="34" charset="-120"/>
              </a:rPr>
              <a:t>Calculated fields</a:t>
            </a:r>
            <a:endParaRPr lang="en-US" sz="1800" dirty="0"/>
          </a:p>
          <a:p>
            <a:pPr marL="342900" indent="-342900">
              <a:buSzPct val="100000"/>
              <a:buChar char="•"/>
            </a:pPr>
            <a:r>
              <a:rPr lang="en-US" sz="1800" dirty="0">
                <a:solidFill>
                  <a:srgbClr val="FFFFFF"/>
                </a:solidFill>
                <a:latin typeface="Calibri" pitchFamily="34" charset="0"/>
                <a:ea typeface="Calibri" pitchFamily="34" charset="-122"/>
                <a:cs typeface="Calibri" pitchFamily="34" charset="-120"/>
              </a:rPr>
              <a:t>Dashboard</a:t>
            </a:r>
            <a:endParaRPr lang="en-US" sz="1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0" y="4389120"/>
            <a:ext cx="9144000" cy="754380"/>
          </a:xfrm>
          <a:prstGeom prst="rect">
            <a:avLst/>
          </a:prstGeom>
          <a:solidFill>
            <a:srgbClr val="091A35">
              <a:alpha val="70000"/>
            </a:srgbClr>
          </a:solidFill>
          <a:ln/>
        </p:spPr>
      </p:sp>
      <p:sp>
        <p:nvSpPr>
          <p:cNvPr id="3" name="Text 1"/>
          <p:cNvSpPr/>
          <p:nvPr/>
        </p:nvSpPr>
        <p:spPr>
          <a:xfrm>
            <a:off x="182880" y="4846320"/>
            <a:ext cx="3657600" cy="228600"/>
          </a:xfrm>
          <a:prstGeom prst="rect">
            <a:avLst/>
          </a:prstGeom>
          <a:noFill/>
          <a:ln/>
        </p:spPr>
        <p:txBody>
          <a:bodyPr wrap="square" lIns="0" tIns="0" rIns="0" bIns="0" rtlCol="0" anchor="ctr"/>
          <a:lstStyle/>
          <a:p>
            <a:pPr marL="0" indent="0">
              <a:buNone/>
            </a:pPr>
            <a:r>
              <a:rPr lang="en-US" sz="900" dirty="0">
                <a:solidFill>
                  <a:srgbClr val="8FA8C0"/>
                </a:solidFill>
                <a:latin typeface="Calibri" pitchFamily="34" charset="0"/>
                <a:ea typeface="Calibri" pitchFamily="34" charset="-122"/>
                <a:cs typeface="Calibri" pitchFamily="34" charset="-120"/>
              </a:rPr>
              <a:t>©Simplilearn. All rights reserved.</a:t>
            </a:r>
            <a:endParaRPr lang="en-US" sz="900" dirty="0"/>
          </a:p>
        </p:txBody>
      </p:sp>
      <p:sp>
        <p:nvSpPr>
          <p:cNvPr id="4" name="Text 2"/>
          <p:cNvSpPr/>
          <p:nvPr/>
        </p:nvSpPr>
        <p:spPr>
          <a:xfrm>
            <a:off x="7863840" y="4846320"/>
            <a:ext cx="685800" cy="228600"/>
          </a:xfrm>
          <a:prstGeom prst="rect">
            <a:avLst/>
          </a:prstGeom>
          <a:noFill/>
          <a:ln/>
        </p:spPr>
        <p:txBody>
          <a:bodyPr wrap="square" lIns="0" tIns="0" rIns="0" bIns="0" rtlCol="0" anchor="ctr"/>
          <a:lstStyle/>
          <a:p>
            <a:pPr marL="0" indent="0">
              <a:buNone/>
            </a:pPr>
            <a:r>
              <a:rPr lang="en-US" sz="1100" b="1" dirty="0">
                <a:solidFill>
                  <a:srgbClr val="FFFFFF"/>
                </a:solidFill>
                <a:latin typeface="Arial" pitchFamily="34" charset="0"/>
                <a:ea typeface="Arial" pitchFamily="34" charset="-122"/>
                <a:cs typeface="Arial" pitchFamily="34" charset="-120"/>
              </a:rPr>
              <a:t>simpli</a:t>
            </a:r>
            <a:endParaRPr lang="en-US" sz="1100" dirty="0"/>
          </a:p>
        </p:txBody>
      </p:sp>
      <p:sp>
        <p:nvSpPr>
          <p:cNvPr id="5" name="Text 3"/>
          <p:cNvSpPr/>
          <p:nvPr/>
        </p:nvSpPr>
        <p:spPr>
          <a:xfrm>
            <a:off x="8549640" y="4846320"/>
            <a:ext cx="548640" cy="228600"/>
          </a:xfrm>
          <a:prstGeom prst="rect">
            <a:avLst/>
          </a:prstGeom>
          <a:noFill/>
          <a:ln/>
        </p:spPr>
        <p:txBody>
          <a:bodyPr wrap="square" lIns="0" tIns="0" rIns="0" bIns="0" rtlCol="0" anchor="ctr"/>
          <a:lstStyle/>
          <a:p>
            <a:pPr marL="0" indent="0">
              <a:buNone/>
            </a:pPr>
            <a:r>
              <a:rPr lang="en-US" sz="1100" b="1" dirty="0">
                <a:solidFill>
                  <a:srgbClr val="FF6B35"/>
                </a:solidFill>
                <a:latin typeface="Arial" pitchFamily="34" charset="0"/>
                <a:ea typeface="Arial" pitchFamily="34" charset="-122"/>
                <a:cs typeface="Arial" pitchFamily="34" charset="-120"/>
              </a:rPr>
              <a:t>learn</a:t>
            </a:r>
            <a:endParaRPr lang="en-US" sz="1100" dirty="0"/>
          </a:p>
        </p:txBody>
      </p:sp>
      <p:sp>
        <p:nvSpPr>
          <p:cNvPr id="6" name="Text 4"/>
          <p:cNvSpPr/>
          <p:nvPr/>
        </p:nvSpPr>
        <p:spPr>
          <a:xfrm>
            <a:off x="274320" y="182880"/>
            <a:ext cx="3657600" cy="365760"/>
          </a:xfrm>
          <a:prstGeom prst="rect">
            <a:avLst/>
          </a:prstGeom>
          <a:noFill/>
          <a:ln/>
        </p:spPr>
        <p:txBody>
          <a:bodyPr wrap="square" lIns="0" tIns="0" rIns="0" bIns="0" rtlCol="0" anchor="ctr"/>
          <a:lstStyle/>
          <a:p>
            <a:pPr marL="0" indent="0">
              <a:buNone/>
            </a:pPr>
            <a:r>
              <a:rPr lang="en-US" sz="2000" b="1" dirty="0">
                <a:solidFill>
                  <a:srgbClr val="1A4A8A"/>
                </a:solidFill>
                <a:latin typeface="Arial Black" pitchFamily="34" charset="0"/>
                <a:ea typeface="Arial Black" pitchFamily="34" charset="-122"/>
                <a:cs typeface="Arial Black" pitchFamily="34" charset="-120"/>
              </a:rPr>
              <a:t>DATA AND</a:t>
            </a:r>
            <a:endParaRPr lang="en-US" sz="2000" dirty="0"/>
          </a:p>
        </p:txBody>
      </p:sp>
      <p:sp>
        <p:nvSpPr>
          <p:cNvPr id="7" name="Text 5"/>
          <p:cNvSpPr/>
          <p:nvPr/>
        </p:nvSpPr>
        <p:spPr>
          <a:xfrm>
            <a:off x="274320" y="502920"/>
            <a:ext cx="4572000" cy="274320"/>
          </a:xfrm>
          <a:prstGeom prst="rect">
            <a:avLst/>
          </a:prstGeom>
          <a:noFill/>
          <a:ln/>
        </p:spPr>
        <p:txBody>
          <a:bodyPr wrap="square" lIns="0" tIns="0" rIns="0" bIns="0" rtlCol="0" anchor="ctr"/>
          <a:lstStyle/>
          <a:p>
            <a:pPr marL="0" indent="0">
              <a:buNone/>
            </a:pPr>
            <a:r>
              <a:rPr lang="en-US" sz="1000" b="1" dirty="0">
                <a:solidFill>
                  <a:srgbClr val="1A4A8A"/>
                </a:solidFill>
                <a:latin typeface="Arial" pitchFamily="34" charset="0"/>
                <a:ea typeface="Arial" pitchFamily="34" charset="-122"/>
                <a:cs typeface="Arial" pitchFamily="34" charset="-120"/>
              </a:rPr>
              <a:t>ARTIFICIAL INTELLIGENCE</a:t>
            </a:r>
            <a:endParaRPr lang="en-US" sz="1000" dirty="0"/>
          </a:p>
        </p:txBody>
      </p:sp>
      <p:sp>
        <p:nvSpPr>
          <p:cNvPr id="8" name="Text 6"/>
          <p:cNvSpPr/>
          <p:nvPr/>
        </p:nvSpPr>
        <p:spPr>
          <a:xfrm>
            <a:off x="3840480" y="731520"/>
            <a:ext cx="5120640" cy="502920"/>
          </a:xfrm>
          <a:prstGeom prst="rect">
            <a:avLst/>
          </a:prstGeom>
          <a:noFill/>
          <a:ln/>
        </p:spPr>
        <p:txBody>
          <a:bodyPr wrap="square" lIns="0" tIns="0" rIns="0" bIns="0" rtlCol="0" anchor="ctr"/>
          <a:lstStyle/>
          <a:p>
            <a:pPr marL="0" indent="0">
              <a:buNone/>
            </a:pPr>
            <a:r>
              <a:rPr lang="en-US" sz="2400" b="1" dirty="0">
                <a:solidFill>
                  <a:srgbClr val="FFFFFF"/>
                </a:solidFill>
                <a:latin typeface="Calibri" pitchFamily="34" charset="0"/>
                <a:ea typeface="Calibri" pitchFamily="34" charset="-122"/>
                <a:cs typeface="Calibri" pitchFamily="34" charset="-120"/>
              </a:rPr>
              <a:t>Industry Relevance</a:t>
            </a:r>
            <a:endParaRPr lang="en-US" sz="2400" dirty="0"/>
          </a:p>
        </p:txBody>
      </p:sp>
      <p:sp>
        <p:nvSpPr>
          <p:cNvPr id="9" name="Shape 7"/>
          <p:cNvSpPr/>
          <p:nvPr/>
        </p:nvSpPr>
        <p:spPr>
          <a:xfrm>
            <a:off x="3657600" y="1280160"/>
            <a:ext cx="5212080" cy="3291840"/>
          </a:xfrm>
          <a:prstGeom prst="roundRect">
            <a:avLst>
              <a:gd name="adj" fmla="val 3333"/>
            </a:avLst>
          </a:prstGeom>
          <a:solidFill>
            <a:srgbClr val="112B55"/>
          </a:solidFill>
          <a:ln w="12700">
            <a:solidFill>
              <a:srgbClr val="1A3A6B"/>
            </a:solidFill>
            <a:prstDash val="solid"/>
          </a:ln>
        </p:spPr>
      </p:sp>
      <p:sp>
        <p:nvSpPr>
          <p:cNvPr id="10" name="Text 8"/>
          <p:cNvSpPr/>
          <p:nvPr/>
        </p:nvSpPr>
        <p:spPr>
          <a:xfrm>
            <a:off x="3840480" y="1417320"/>
            <a:ext cx="4937760" cy="658368"/>
          </a:xfrm>
          <a:prstGeom prst="rect">
            <a:avLst/>
          </a:prstGeom>
          <a:noFill/>
          <a:ln/>
        </p:spPr>
        <p:txBody>
          <a:bodyPr wrap="square" rtlCol="0" anchor="ctr"/>
          <a:lstStyle/>
          <a:p>
            <a:pPr marL="0" indent="0">
              <a:buNone/>
            </a:pPr>
            <a:r>
              <a:rPr lang="en-US" sz="1300" b="1" dirty="0">
                <a:solidFill>
                  <a:srgbClr val="00B4F0"/>
                </a:solidFill>
              </a:rPr>
              <a:t>•  </a:t>
            </a:r>
            <a:r>
              <a:rPr lang="en-US" sz="1300" b="1" dirty="0">
                <a:solidFill>
                  <a:srgbClr val="FFFFFF"/>
                </a:solidFill>
                <a:latin typeface="Calibri" pitchFamily="34" charset="0"/>
                <a:ea typeface="Calibri" pitchFamily="34" charset="-122"/>
                <a:cs typeface="Calibri" pitchFamily="34" charset="-120"/>
              </a:rPr>
              <a:t>Hierarchy: </a:t>
            </a:r>
            <a:r>
              <a:rPr lang="en-US" sz="1300" dirty="0">
                <a:solidFill>
                  <a:srgbClr val="B8D4EE"/>
                </a:solidFill>
                <a:latin typeface="Calibri" pitchFamily="34" charset="0"/>
                <a:ea typeface="Calibri" pitchFamily="34" charset="-122"/>
                <a:cs typeface="Calibri" pitchFamily="34" charset="-120"/>
              </a:rPr>
              <a:t>It represents the level-wise configuration.</a:t>
            </a:r>
            <a:endParaRPr lang="en-US" sz="1300" dirty="0"/>
          </a:p>
        </p:txBody>
      </p:sp>
      <p:sp>
        <p:nvSpPr>
          <p:cNvPr id="11" name="Text 9"/>
          <p:cNvSpPr/>
          <p:nvPr/>
        </p:nvSpPr>
        <p:spPr>
          <a:xfrm>
            <a:off x="3840480" y="2185416"/>
            <a:ext cx="4937760" cy="658368"/>
          </a:xfrm>
          <a:prstGeom prst="rect">
            <a:avLst/>
          </a:prstGeom>
          <a:noFill/>
          <a:ln/>
        </p:spPr>
        <p:txBody>
          <a:bodyPr wrap="square" rtlCol="0" anchor="ctr"/>
          <a:lstStyle/>
          <a:p>
            <a:pPr marL="0" indent="0">
              <a:buNone/>
            </a:pPr>
            <a:r>
              <a:rPr lang="en-US" sz="1300" b="1" dirty="0">
                <a:solidFill>
                  <a:srgbClr val="00B4F0"/>
                </a:solidFill>
              </a:rPr>
              <a:t>•  </a:t>
            </a:r>
            <a:r>
              <a:rPr lang="en-US" sz="1300" b="1" dirty="0">
                <a:solidFill>
                  <a:srgbClr val="FFFFFF"/>
                </a:solidFill>
                <a:latin typeface="Calibri" pitchFamily="34" charset="0"/>
                <a:ea typeface="Calibri" pitchFamily="34" charset="-122"/>
                <a:cs typeface="Calibri" pitchFamily="34" charset="-120"/>
              </a:rPr>
              <a:t>Parameters: </a:t>
            </a:r>
            <a:r>
              <a:rPr lang="en-US" sz="1300" dirty="0">
                <a:solidFill>
                  <a:srgbClr val="B8D4EE"/>
                </a:solidFill>
                <a:latin typeface="Calibri" pitchFamily="34" charset="0"/>
                <a:ea typeface="Calibri" pitchFamily="34" charset="-122"/>
                <a:cs typeface="Calibri" pitchFamily="34" charset="-120"/>
              </a:rPr>
              <a:t>It is a workbook variable such as a number, date, or string that can replace a constant value in a calculation, filter, or reference line.</a:t>
            </a:r>
            <a:endParaRPr lang="en-US" sz="1300" dirty="0"/>
          </a:p>
        </p:txBody>
      </p:sp>
      <p:sp>
        <p:nvSpPr>
          <p:cNvPr id="12" name="Text 10"/>
          <p:cNvSpPr/>
          <p:nvPr/>
        </p:nvSpPr>
        <p:spPr>
          <a:xfrm>
            <a:off x="3840480" y="2953512"/>
            <a:ext cx="4937760" cy="658368"/>
          </a:xfrm>
          <a:prstGeom prst="rect">
            <a:avLst/>
          </a:prstGeom>
          <a:noFill/>
          <a:ln/>
        </p:spPr>
        <p:txBody>
          <a:bodyPr wrap="square" rtlCol="0" anchor="ctr"/>
          <a:lstStyle/>
          <a:p>
            <a:pPr marL="0" indent="0">
              <a:buNone/>
            </a:pPr>
            <a:r>
              <a:rPr lang="en-US" sz="1300" b="1" dirty="0">
                <a:solidFill>
                  <a:srgbClr val="00B4F0"/>
                </a:solidFill>
              </a:rPr>
              <a:t>•  </a:t>
            </a:r>
            <a:r>
              <a:rPr lang="en-US" sz="1300" b="1" dirty="0">
                <a:solidFill>
                  <a:srgbClr val="FFFFFF"/>
                </a:solidFill>
                <a:latin typeface="Calibri" pitchFamily="34" charset="0"/>
                <a:ea typeface="Calibri" pitchFamily="34" charset="-122"/>
                <a:cs typeface="Calibri" pitchFamily="34" charset="-120"/>
              </a:rPr>
              <a:t>Calculated fields: </a:t>
            </a:r>
            <a:r>
              <a:rPr lang="en-US" sz="1300" dirty="0">
                <a:solidFill>
                  <a:srgbClr val="B8D4EE"/>
                </a:solidFill>
                <a:latin typeface="Calibri" pitchFamily="34" charset="0"/>
                <a:ea typeface="Calibri" pitchFamily="34" charset="-122"/>
                <a:cs typeface="Calibri" pitchFamily="34" charset="-120"/>
              </a:rPr>
              <a:t>It creates new dimensions, such as segments, or new measures, such as ratios or sums.</a:t>
            </a:r>
            <a:endParaRPr lang="en-US" sz="1300" dirty="0"/>
          </a:p>
        </p:txBody>
      </p:sp>
      <p:sp>
        <p:nvSpPr>
          <p:cNvPr id="13" name="Text 11"/>
          <p:cNvSpPr/>
          <p:nvPr/>
        </p:nvSpPr>
        <p:spPr>
          <a:xfrm>
            <a:off x="3840480" y="3721608"/>
            <a:ext cx="4937760" cy="658368"/>
          </a:xfrm>
          <a:prstGeom prst="rect">
            <a:avLst/>
          </a:prstGeom>
          <a:noFill/>
          <a:ln/>
        </p:spPr>
        <p:txBody>
          <a:bodyPr wrap="square" rtlCol="0" anchor="ctr"/>
          <a:lstStyle/>
          <a:p>
            <a:pPr marL="0" indent="0">
              <a:buNone/>
            </a:pPr>
            <a:r>
              <a:rPr lang="en-US" sz="1300" b="1" dirty="0">
                <a:solidFill>
                  <a:srgbClr val="00B4F0"/>
                </a:solidFill>
              </a:rPr>
              <a:t>•  </a:t>
            </a:r>
            <a:r>
              <a:rPr lang="en-US" sz="1300" b="1" dirty="0">
                <a:solidFill>
                  <a:srgbClr val="FFFFFF"/>
                </a:solidFill>
                <a:latin typeface="Calibri" pitchFamily="34" charset="0"/>
                <a:ea typeface="Calibri" pitchFamily="34" charset="-122"/>
                <a:cs typeface="Calibri" pitchFamily="34" charset="-120"/>
              </a:rPr>
              <a:t>Dashboard: </a:t>
            </a:r>
            <a:r>
              <a:rPr lang="en-US" sz="1300" dirty="0">
                <a:solidFill>
                  <a:srgbClr val="B8D4EE"/>
                </a:solidFill>
                <a:latin typeface="Calibri" pitchFamily="34" charset="0"/>
                <a:ea typeface="Calibri" pitchFamily="34" charset="-122"/>
                <a:cs typeface="Calibri" pitchFamily="34" charset="-120"/>
              </a:rPr>
              <a:t>It displays several views and compares a variety of data simultaneously.</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0" y="4389120"/>
            <a:ext cx="9144000" cy="754380"/>
          </a:xfrm>
          <a:prstGeom prst="rect">
            <a:avLst/>
          </a:prstGeom>
          <a:solidFill>
            <a:srgbClr val="091A35">
              <a:alpha val="70000"/>
            </a:srgbClr>
          </a:solidFill>
          <a:ln/>
        </p:spPr>
      </p:sp>
      <p:sp>
        <p:nvSpPr>
          <p:cNvPr id="3" name="Text 1"/>
          <p:cNvSpPr/>
          <p:nvPr/>
        </p:nvSpPr>
        <p:spPr>
          <a:xfrm>
            <a:off x="182880" y="4846320"/>
            <a:ext cx="3657600" cy="228600"/>
          </a:xfrm>
          <a:prstGeom prst="rect">
            <a:avLst/>
          </a:prstGeom>
          <a:noFill/>
          <a:ln/>
        </p:spPr>
        <p:txBody>
          <a:bodyPr wrap="square" lIns="0" tIns="0" rIns="0" bIns="0" rtlCol="0" anchor="ctr"/>
          <a:lstStyle/>
          <a:p>
            <a:pPr marL="0" indent="0">
              <a:buNone/>
            </a:pPr>
            <a:r>
              <a:rPr lang="en-US" sz="900" dirty="0">
                <a:solidFill>
                  <a:srgbClr val="8FA8C0"/>
                </a:solidFill>
                <a:latin typeface="Calibri" pitchFamily="34" charset="0"/>
                <a:ea typeface="Calibri" pitchFamily="34" charset="-122"/>
                <a:cs typeface="Calibri" pitchFamily="34" charset="-120"/>
              </a:rPr>
              <a:t>©Simplilearn. All rights reserved.</a:t>
            </a:r>
            <a:endParaRPr lang="en-US" sz="900" dirty="0"/>
          </a:p>
        </p:txBody>
      </p:sp>
      <p:sp>
        <p:nvSpPr>
          <p:cNvPr id="4" name="Text 2"/>
          <p:cNvSpPr/>
          <p:nvPr/>
        </p:nvSpPr>
        <p:spPr>
          <a:xfrm>
            <a:off x="7863840" y="4846320"/>
            <a:ext cx="685800" cy="228600"/>
          </a:xfrm>
          <a:prstGeom prst="rect">
            <a:avLst/>
          </a:prstGeom>
          <a:noFill/>
          <a:ln/>
        </p:spPr>
        <p:txBody>
          <a:bodyPr wrap="square" lIns="0" tIns="0" rIns="0" bIns="0" rtlCol="0" anchor="ctr"/>
          <a:lstStyle/>
          <a:p>
            <a:pPr marL="0" indent="0">
              <a:buNone/>
            </a:pPr>
            <a:r>
              <a:rPr lang="en-US" sz="1100" b="1" dirty="0">
                <a:solidFill>
                  <a:srgbClr val="FFFFFF"/>
                </a:solidFill>
                <a:latin typeface="Arial" pitchFamily="34" charset="0"/>
                <a:ea typeface="Arial" pitchFamily="34" charset="-122"/>
                <a:cs typeface="Arial" pitchFamily="34" charset="-120"/>
              </a:rPr>
              <a:t>simpli</a:t>
            </a:r>
            <a:endParaRPr lang="en-US" sz="1100" dirty="0"/>
          </a:p>
        </p:txBody>
      </p:sp>
      <p:sp>
        <p:nvSpPr>
          <p:cNvPr id="5" name="Text 3"/>
          <p:cNvSpPr/>
          <p:nvPr/>
        </p:nvSpPr>
        <p:spPr>
          <a:xfrm>
            <a:off x="8549640" y="4846320"/>
            <a:ext cx="548640" cy="228600"/>
          </a:xfrm>
          <a:prstGeom prst="rect">
            <a:avLst/>
          </a:prstGeom>
          <a:noFill/>
          <a:ln/>
        </p:spPr>
        <p:txBody>
          <a:bodyPr wrap="square" lIns="0" tIns="0" rIns="0" bIns="0" rtlCol="0" anchor="ctr"/>
          <a:lstStyle/>
          <a:p>
            <a:pPr marL="0" indent="0">
              <a:buNone/>
            </a:pPr>
            <a:r>
              <a:rPr lang="en-US" sz="1100" b="1" dirty="0">
                <a:solidFill>
                  <a:srgbClr val="FF6B35"/>
                </a:solidFill>
                <a:latin typeface="Arial" pitchFamily="34" charset="0"/>
                <a:ea typeface="Arial" pitchFamily="34" charset="-122"/>
                <a:cs typeface="Arial" pitchFamily="34" charset="-120"/>
              </a:rPr>
              <a:t>learn</a:t>
            </a:r>
            <a:endParaRPr lang="en-US" sz="1100" dirty="0"/>
          </a:p>
        </p:txBody>
      </p:sp>
      <p:sp>
        <p:nvSpPr>
          <p:cNvPr id="6" name="Text 4"/>
          <p:cNvSpPr/>
          <p:nvPr/>
        </p:nvSpPr>
        <p:spPr>
          <a:xfrm>
            <a:off x="274320" y="182880"/>
            <a:ext cx="3657600" cy="365760"/>
          </a:xfrm>
          <a:prstGeom prst="rect">
            <a:avLst/>
          </a:prstGeom>
          <a:noFill/>
          <a:ln/>
        </p:spPr>
        <p:txBody>
          <a:bodyPr wrap="square" lIns="0" tIns="0" rIns="0" bIns="0" rtlCol="0" anchor="ctr"/>
          <a:lstStyle/>
          <a:p>
            <a:pPr marL="0" indent="0">
              <a:buNone/>
            </a:pPr>
            <a:r>
              <a:rPr lang="en-US" sz="2000" b="1" dirty="0">
                <a:solidFill>
                  <a:srgbClr val="1A4A8A"/>
                </a:solidFill>
                <a:latin typeface="Arial Black" pitchFamily="34" charset="0"/>
                <a:ea typeface="Arial Black" pitchFamily="34" charset="-122"/>
                <a:cs typeface="Arial Black" pitchFamily="34" charset="-120"/>
              </a:rPr>
              <a:t>DATA AND</a:t>
            </a:r>
            <a:endParaRPr lang="en-US" sz="2000" dirty="0"/>
          </a:p>
        </p:txBody>
      </p:sp>
      <p:sp>
        <p:nvSpPr>
          <p:cNvPr id="7" name="Text 5"/>
          <p:cNvSpPr/>
          <p:nvPr/>
        </p:nvSpPr>
        <p:spPr>
          <a:xfrm>
            <a:off x="274320" y="502920"/>
            <a:ext cx="4572000" cy="274320"/>
          </a:xfrm>
          <a:prstGeom prst="rect">
            <a:avLst/>
          </a:prstGeom>
          <a:noFill/>
          <a:ln/>
        </p:spPr>
        <p:txBody>
          <a:bodyPr wrap="square" lIns="0" tIns="0" rIns="0" bIns="0" rtlCol="0" anchor="ctr"/>
          <a:lstStyle/>
          <a:p>
            <a:pPr marL="0" indent="0">
              <a:buNone/>
            </a:pPr>
            <a:r>
              <a:rPr lang="en-US" sz="1000" b="1" dirty="0">
                <a:solidFill>
                  <a:srgbClr val="1A4A8A"/>
                </a:solidFill>
                <a:latin typeface="Arial" pitchFamily="34" charset="0"/>
                <a:ea typeface="Arial" pitchFamily="34" charset="-122"/>
                <a:cs typeface="Arial" pitchFamily="34" charset="-120"/>
              </a:rPr>
              <a:t>ARTIFICIAL INTELLIGENCE</a:t>
            </a:r>
            <a:endParaRPr lang="en-US" sz="1000" dirty="0"/>
          </a:p>
        </p:txBody>
      </p:sp>
      <p:sp>
        <p:nvSpPr>
          <p:cNvPr id="8" name="Text 6"/>
          <p:cNvSpPr/>
          <p:nvPr/>
        </p:nvSpPr>
        <p:spPr>
          <a:xfrm>
            <a:off x="3840480" y="731520"/>
            <a:ext cx="5120640" cy="502920"/>
          </a:xfrm>
          <a:prstGeom prst="rect">
            <a:avLst/>
          </a:prstGeom>
          <a:noFill/>
          <a:ln/>
        </p:spPr>
        <p:txBody>
          <a:bodyPr wrap="square" lIns="0" tIns="0" rIns="0" bIns="0" rtlCol="0" anchor="ctr"/>
          <a:lstStyle/>
          <a:p>
            <a:pPr marL="0" indent="0">
              <a:buNone/>
            </a:pPr>
            <a:r>
              <a:rPr lang="en-US" sz="2400" b="1" dirty="0">
                <a:solidFill>
                  <a:srgbClr val="FFFFFF"/>
                </a:solidFill>
                <a:latin typeface="Calibri" pitchFamily="34" charset="0"/>
                <a:ea typeface="Calibri" pitchFamily="34" charset="-122"/>
                <a:cs typeface="Calibri" pitchFamily="34" charset="-120"/>
              </a:rPr>
              <a:t>Problem Statement</a:t>
            </a:r>
            <a:endParaRPr lang="en-US" sz="2400" dirty="0"/>
          </a:p>
        </p:txBody>
      </p:sp>
      <p:sp>
        <p:nvSpPr>
          <p:cNvPr id="9" name="Shape 7"/>
          <p:cNvSpPr/>
          <p:nvPr/>
        </p:nvSpPr>
        <p:spPr>
          <a:xfrm>
            <a:off x="3657600" y="1325880"/>
            <a:ext cx="5257800" cy="2926080"/>
          </a:xfrm>
          <a:prstGeom prst="roundRect">
            <a:avLst>
              <a:gd name="adj" fmla="val 3750"/>
            </a:avLst>
          </a:prstGeom>
          <a:solidFill>
            <a:srgbClr val="112B55"/>
          </a:solidFill>
          <a:ln w="12700">
            <a:solidFill>
              <a:srgbClr val="1A3A6B"/>
            </a:solidFill>
            <a:prstDash val="solid"/>
          </a:ln>
        </p:spPr>
      </p:sp>
      <p:sp>
        <p:nvSpPr>
          <p:cNvPr id="10" name="Text 8"/>
          <p:cNvSpPr/>
          <p:nvPr/>
        </p:nvSpPr>
        <p:spPr>
          <a:xfrm>
            <a:off x="3840480" y="1508760"/>
            <a:ext cx="4937760" cy="2606040"/>
          </a:xfrm>
          <a:prstGeom prst="rect">
            <a:avLst/>
          </a:prstGeom>
          <a:noFill/>
          <a:ln/>
        </p:spPr>
        <p:txBody>
          <a:bodyPr wrap="square" rtlCol="0" anchor="t"/>
          <a:lstStyle/>
          <a:p>
            <a:pPr marL="0" indent="0">
              <a:buNone/>
            </a:pPr>
            <a:r>
              <a:rPr lang="en-US" sz="1450" dirty="0">
                <a:solidFill>
                  <a:srgbClr val="FFFFFF"/>
                </a:solidFill>
                <a:latin typeface="Calibri" pitchFamily="34" charset="0"/>
                <a:ea typeface="Calibri" pitchFamily="34" charset="-122"/>
                <a:cs typeface="Calibri" pitchFamily="34" charset="-120"/>
              </a:rPr>
              <a:t>The director of a leading organization wants to compare the sales between two regions. He has asked each region operators to record the sales data to compare by region. The upper management wants to visualize the sales data using a dashboard to understand the performance between them and suggest the necessary improvements.</a:t>
            </a:r>
            <a:endParaRPr lang="en-US" sz="14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0" y="4389120"/>
            <a:ext cx="9144000" cy="754380"/>
          </a:xfrm>
          <a:prstGeom prst="rect">
            <a:avLst/>
          </a:prstGeom>
          <a:solidFill>
            <a:srgbClr val="091A35">
              <a:alpha val="70000"/>
            </a:srgbClr>
          </a:solidFill>
          <a:ln/>
        </p:spPr>
      </p:sp>
      <p:sp>
        <p:nvSpPr>
          <p:cNvPr id="3" name="Text 1"/>
          <p:cNvSpPr/>
          <p:nvPr/>
        </p:nvSpPr>
        <p:spPr>
          <a:xfrm>
            <a:off x="182880" y="4846320"/>
            <a:ext cx="3657600" cy="228600"/>
          </a:xfrm>
          <a:prstGeom prst="rect">
            <a:avLst/>
          </a:prstGeom>
          <a:noFill/>
          <a:ln/>
        </p:spPr>
        <p:txBody>
          <a:bodyPr wrap="square" lIns="0" tIns="0" rIns="0" bIns="0" rtlCol="0" anchor="ctr"/>
          <a:lstStyle/>
          <a:p>
            <a:pPr marL="0" indent="0">
              <a:buNone/>
            </a:pPr>
            <a:r>
              <a:rPr lang="en-US" sz="900" dirty="0">
                <a:solidFill>
                  <a:srgbClr val="8FA8C0"/>
                </a:solidFill>
                <a:latin typeface="Calibri" pitchFamily="34" charset="0"/>
                <a:ea typeface="Calibri" pitchFamily="34" charset="-122"/>
                <a:cs typeface="Calibri" pitchFamily="34" charset="-120"/>
              </a:rPr>
              <a:t>©Simplilearn. All rights reserved.</a:t>
            </a:r>
            <a:endParaRPr lang="en-US" sz="900" dirty="0"/>
          </a:p>
        </p:txBody>
      </p:sp>
      <p:sp>
        <p:nvSpPr>
          <p:cNvPr id="4" name="Text 2"/>
          <p:cNvSpPr/>
          <p:nvPr/>
        </p:nvSpPr>
        <p:spPr>
          <a:xfrm>
            <a:off x="7863840" y="4846320"/>
            <a:ext cx="685800" cy="228600"/>
          </a:xfrm>
          <a:prstGeom prst="rect">
            <a:avLst/>
          </a:prstGeom>
          <a:noFill/>
          <a:ln/>
        </p:spPr>
        <p:txBody>
          <a:bodyPr wrap="square" lIns="0" tIns="0" rIns="0" bIns="0" rtlCol="0" anchor="ctr"/>
          <a:lstStyle/>
          <a:p>
            <a:pPr marL="0" indent="0">
              <a:buNone/>
            </a:pPr>
            <a:r>
              <a:rPr lang="en-US" sz="1100" b="1" dirty="0">
                <a:solidFill>
                  <a:srgbClr val="FFFFFF"/>
                </a:solidFill>
                <a:latin typeface="Arial" pitchFamily="34" charset="0"/>
                <a:ea typeface="Arial" pitchFamily="34" charset="-122"/>
                <a:cs typeface="Arial" pitchFamily="34" charset="-120"/>
              </a:rPr>
              <a:t>simpli</a:t>
            </a:r>
            <a:endParaRPr lang="en-US" sz="1100" dirty="0"/>
          </a:p>
        </p:txBody>
      </p:sp>
      <p:sp>
        <p:nvSpPr>
          <p:cNvPr id="5" name="Text 3"/>
          <p:cNvSpPr/>
          <p:nvPr/>
        </p:nvSpPr>
        <p:spPr>
          <a:xfrm>
            <a:off x="8549640" y="4846320"/>
            <a:ext cx="548640" cy="228600"/>
          </a:xfrm>
          <a:prstGeom prst="rect">
            <a:avLst/>
          </a:prstGeom>
          <a:noFill/>
          <a:ln/>
        </p:spPr>
        <p:txBody>
          <a:bodyPr wrap="square" lIns="0" tIns="0" rIns="0" bIns="0" rtlCol="0" anchor="ctr"/>
          <a:lstStyle/>
          <a:p>
            <a:pPr marL="0" indent="0">
              <a:buNone/>
            </a:pPr>
            <a:r>
              <a:rPr lang="en-US" sz="1100" b="1" dirty="0">
                <a:solidFill>
                  <a:srgbClr val="FF6B35"/>
                </a:solidFill>
                <a:latin typeface="Arial" pitchFamily="34" charset="0"/>
                <a:ea typeface="Arial" pitchFamily="34" charset="-122"/>
                <a:cs typeface="Arial" pitchFamily="34" charset="-120"/>
              </a:rPr>
              <a:t>learn</a:t>
            </a:r>
            <a:endParaRPr lang="en-US" sz="1100" dirty="0"/>
          </a:p>
        </p:txBody>
      </p:sp>
      <p:sp>
        <p:nvSpPr>
          <p:cNvPr id="6" name="Text 4"/>
          <p:cNvSpPr/>
          <p:nvPr/>
        </p:nvSpPr>
        <p:spPr>
          <a:xfrm>
            <a:off x="274320" y="182880"/>
            <a:ext cx="3657600" cy="365760"/>
          </a:xfrm>
          <a:prstGeom prst="rect">
            <a:avLst/>
          </a:prstGeom>
          <a:noFill/>
          <a:ln/>
        </p:spPr>
        <p:txBody>
          <a:bodyPr wrap="square" lIns="0" tIns="0" rIns="0" bIns="0" rtlCol="0" anchor="ctr"/>
          <a:lstStyle/>
          <a:p>
            <a:pPr marL="0" indent="0">
              <a:buNone/>
            </a:pPr>
            <a:r>
              <a:rPr lang="en-US" sz="2000" b="1" dirty="0">
                <a:solidFill>
                  <a:srgbClr val="1A4A8A"/>
                </a:solidFill>
                <a:latin typeface="Arial Black" pitchFamily="34" charset="0"/>
                <a:ea typeface="Arial Black" pitchFamily="34" charset="-122"/>
                <a:cs typeface="Arial Black" pitchFamily="34" charset="-120"/>
              </a:rPr>
              <a:t>DATA AND</a:t>
            </a:r>
            <a:endParaRPr lang="en-US" sz="2000" dirty="0"/>
          </a:p>
        </p:txBody>
      </p:sp>
      <p:sp>
        <p:nvSpPr>
          <p:cNvPr id="7" name="Text 5"/>
          <p:cNvSpPr/>
          <p:nvPr/>
        </p:nvSpPr>
        <p:spPr>
          <a:xfrm>
            <a:off x="274320" y="502920"/>
            <a:ext cx="4572000" cy="274320"/>
          </a:xfrm>
          <a:prstGeom prst="rect">
            <a:avLst/>
          </a:prstGeom>
          <a:noFill/>
          <a:ln/>
        </p:spPr>
        <p:txBody>
          <a:bodyPr wrap="square" lIns="0" tIns="0" rIns="0" bIns="0" rtlCol="0" anchor="ctr"/>
          <a:lstStyle/>
          <a:p>
            <a:pPr marL="0" indent="0">
              <a:buNone/>
            </a:pPr>
            <a:r>
              <a:rPr lang="en-US" sz="1000" b="1" dirty="0">
                <a:solidFill>
                  <a:srgbClr val="1A4A8A"/>
                </a:solidFill>
                <a:latin typeface="Arial" pitchFamily="34" charset="0"/>
                <a:ea typeface="Arial" pitchFamily="34" charset="-122"/>
                <a:cs typeface="Arial" pitchFamily="34" charset="-120"/>
              </a:rPr>
              <a:t>ARTIFICIAL INTELLIGENCE</a:t>
            </a:r>
            <a:endParaRPr lang="en-US" sz="1000" dirty="0"/>
          </a:p>
        </p:txBody>
      </p:sp>
      <p:sp>
        <p:nvSpPr>
          <p:cNvPr id="8" name="Text 6"/>
          <p:cNvSpPr/>
          <p:nvPr/>
        </p:nvSpPr>
        <p:spPr>
          <a:xfrm>
            <a:off x="3840480" y="658368"/>
            <a:ext cx="5120640" cy="457200"/>
          </a:xfrm>
          <a:prstGeom prst="rect">
            <a:avLst/>
          </a:prstGeom>
          <a:noFill/>
          <a:ln/>
        </p:spPr>
        <p:txBody>
          <a:bodyPr wrap="square" lIns="0" tIns="0" rIns="0" bIns="0" rtlCol="0" anchor="ctr"/>
          <a:lstStyle/>
          <a:p>
            <a:pPr marL="0" indent="0">
              <a:buNone/>
            </a:pPr>
            <a:r>
              <a:rPr lang="en-US" sz="2400" b="1" dirty="0">
                <a:solidFill>
                  <a:srgbClr val="FFFFFF"/>
                </a:solidFill>
                <a:latin typeface="Calibri" pitchFamily="34" charset="0"/>
                <a:ea typeface="Calibri" pitchFamily="34" charset="-122"/>
                <a:cs typeface="Calibri" pitchFamily="34" charset="-120"/>
              </a:rPr>
              <a:t>Tasks to Perform</a:t>
            </a:r>
            <a:endParaRPr lang="en-US" sz="2400" dirty="0"/>
          </a:p>
        </p:txBody>
      </p:sp>
      <p:sp>
        <p:nvSpPr>
          <p:cNvPr id="9" name="Shape 7"/>
          <p:cNvSpPr/>
          <p:nvPr/>
        </p:nvSpPr>
        <p:spPr>
          <a:xfrm>
            <a:off x="3566160" y="1170432"/>
            <a:ext cx="5349240" cy="3520440"/>
          </a:xfrm>
          <a:prstGeom prst="roundRect">
            <a:avLst>
              <a:gd name="adj" fmla="val 3117"/>
            </a:avLst>
          </a:prstGeom>
          <a:solidFill>
            <a:srgbClr val="112B55"/>
          </a:solidFill>
          <a:ln w="12700">
            <a:solidFill>
              <a:srgbClr val="1A3A6B"/>
            </a:solidFill>
            <a:prstDash val="solid"/>
          </a:ln>
        </p:spPr>
      </p:sp>
      <p:sp>
        <p:nvSpPr>
          <p:cNvPr id="10" name="Text 8"/>
          <p:cNvSpPr/>
          <p:nvPr/>
        </p:nvSpPr>
        <p:spPr>
          <a:xfrm>
            <a:off x="3749040" y="1298448"/>
            <a:ext cx="5074920" cy="347472"/>
          </a:xfrm>
          <a:prstGeom prst="rect">
            <a:avLst/>
          </a:prstGeom>
          <a:noFill/>
          <a:ln/>
        </p:spPr>
        <p:txBody>
          <a:bodyPr wrap="square" rtlCol="0" anchor="ctr"/>
          <a:lstStyle/>
          <a:p>
            <a:pPr marL="0" indent="0">
              <a:buNone/>
            </a:pPr>
            <a:r>
              <a:rPr lang="en-US" sz="1300" dirty="0">
                <a:solidFill>
                  <a:srgbClr val="B8D4EE"/>
                </a:solidFill>
                <a:latin typeface="Calibri" pitchFamily="34" charset="0"/>
                <a:ea typeface="Calibri" pitchFamily="34" charset="-122"/>
                <a:cs typeface="Calibri" pitchFamily="34" charset="-120"/>
              </a:rPr>
              <a:t>Perform the below tasks on the dataset provided using Tableau</a:t>
            </a:r>
            <a:endParaRPr lang="en-US" sz="1300" dirty="0"/>
          </a:p>
        </p:txBody>
      </p:sp>
      <p:sp>
        <p:nvSpPr>
          <p:cNvPr id="11" name="Text 9"/>
          <p:cNvSpPr/>
          <p:nvPr/>
        </p:nvSpPr>
        <p:spPr>
          <a:xfrm>
            <a:off x="3749040" y="1719072"/>
            <a:ext cx="5029200" cy="2743200"/>
          </a:xfrm>
          <a:prstGeom prst="rect">
            <a:avLst/>
          </a:prstGeom>
          <a:noFill/>
          <a:ln/>
        </p:spPr>
        <p:txBody>
          <a:bodyPr wrap="square" rtlCol="0" anchor="t"/>
          <a:lstStyle/>
          <a:p>
            <a:pPr marL="0" indent="0">
              <a:buNone/>
            </a:pPr>
            <a:r>
              <a:rPr lang="en-US" sz="1400" b="1" dirty="0">
                <a:solidFill>
                  <a:srgbClr val="FFFFFF"/>
                </a:solidFill>
                <a:latin typeface="Calibri" pitchFamily="34" charset="0"/>
                <a:ea typeface="Calibri" pitchFamily="34" charset="-122"/>
                <a:cs typeface="Calibri" pitchFamily="34" charset="-120"/>
              </a:rPr>
              <a:t>1.  Select Sample Superstore as Dataset</a:t>
            </a:r>
            <a:endParaRPr lang="en-US" sz="1400" dirty="0"/>
          </a:p>
          <a:p>
            <a:pPr marL="0" indent="0">
              <a:buNone/>
            </a:pPr>
            <a:r>
              <a:rPr lang="en-US" sz="1300" dirty="0">
                <a:solidFill>
                  <a:srgbClr val="B8D4EE"/>
                </a:solidFill>
                <a:latin typeface="Calibri" pitchFamily="34" charset="0"/>
                <a:ea typeface="Calibri" pitchFamily="34" charset="-122"/>
                <a:cs typeface="Calibri" pitchFamily="34" charset="-120"/>
              </a:rPr>
              <a:t>     •  Use Sample Superstore Dataset</a:t>
            </a:r>
            <a:endParaRPr lang="en-US" sz="1400" dirty="0"/>
          </a:p>
          <a:p>
            <a:pPr marL="0" indent="0">
              <a:buNone/>
            </a:pPr>
            <a:r>
              <a:rPr lang="en-US" sz="1300" dirty="0">
                <a:solidFill>
                  <a:srgbClr val="B8D4EE"/>
                </a:solidFill>
                <a:latin typeface="Calibri" pitchFamily="34" charset="0"/>
                <a:ea typeface="Calibri" pitchFamily="34" charset="-122"/>
                <a:cs typeface="Calibri" pitchFamily="34" charset="-120"/>
              </a:rPr>
              <a:t>     •  Select Data</a:t>
            </a:r>
            <a:endParaRPr lang="en-US" sz="1400" dirty="0"/>
          </a:p>
          <a:p>
            <a:pPr marL="0" indent="0">
              <a:buNone/>
            </a:pPr>
            <a:r>
              <a:rPr lang="en-US" sz="1300" dirty="0">
                <a:solidFill>
                  <a:srgbClr val="B8D4EE"/>
                </a:solidFill>
                <a:latin typeface="Calibri" pitchFamily="34" charset="0"/>
                <a:ea typeface="Calibri" pitchFamily="34" charset="-122"/>
                <a:cs typeface="Calibri" pitchFamily="34" charset="-120"/>
              </a:rPr>
              <a:t>     •  Use Group by from Data Source Table on a Folder to create a folder to segregate the required data</a:t>
            </a:r>
            <a:endParaRPr lang="en-US" sz="1400" dirty="0"/>
          </a:p>
          <a:p>
            <a:pPr marL="0" indent="0">
              <a:buNone/>
            </a:pPr>
            <a:r>
              <a:rPr lang="en-US" sz="1000" dirty="0">
                <a:solidFill>
                  <a:srgbClr val="000000"/>
                </a:solidFill>
              </a:rPr>
              <a:t> </a:t>
            </a:r>
            <a:endParaRPr lang="en-US" sz="1400" dirty="0"/>
          </a:p>
          <a:p>
            <a:pPr marL="0" indent="0">
              <a:buNone/>
            </a:pPr>
            <a:r>
              <a:rPr lang="en-US" sz="1400" b="1" dirty="0">
                <a:solidFill>
                  <a:srgbClr val="FFFFFF"/>
                </a:solidFill>
                <a:latin typeface="Calibri" pitchFamily="34" charset="0"/>
                <a:ea typeface="Calibri" pitchFamily="34" charset="-122"/>
                <a:cs typeface="Calibri" pitchFamily="34" charset="-120"/>
              </a:rPr>
              <a:t>2.  Create a hierarchy called Location</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0" y="4389120"/>
            <a:ext cx="9144000" cy="754380"/>
          </a:xfrm>
          <a:prstGeom prst="rect">
            <a:avLst/>
          </a:prstGeom>
          <a:solidFill>
            <a:srgbClr val="091A35">
              <a:alpha val="70000"/>
            </a:srgbClr>
          </a:solidFill>
          <a:ln/>
        </p:spPr>
      </p:sp>
      <p:sp>
        <p:nvSpPr>
          <p:cNvPr id="3" name="Text 1"/>
          <p:cNvSpPr/>
          <p:nvPr/>
        </p:nvSpPr>
        <p:spPr>
          <a:xfrm>
            <a:off x="182880" y="4846320"/>
            <a:ext cx="3657600" cy="228600"/>
          </a:xfrm>
          <a:prstGeom prst="rect">
            <a:avLst/>
          </a:prstGeom>
          <a:noFill/>
          <a:ln/>
        </p:spPr>
        <p:txBody>
          <a:bodyPr wrap="square" lIns="0" tIns="0" rIns="0" bIns="0" rtlCol="0" anchor="ctr"/>
          <a:lstStyle/>
          <a:p>
            <a:pPr marL="0" indent="0">
              <a:buNone/>
            </a:pPr>
            <a:r>
              <a:rPr lang="en-US" sz="900" dirty="0">
                <a:solidFill>
                  <a:srgbClr val="8FA8C0"/>
                </a:solidFill>
                <a:latin typeface="Calibri" pitchFamily="34" charset="0"/>
                <a:ea typeface="Calibri" pitchFamily="34" charset="-122"/>
                <a:cs typeface="Calibri" pitchFamily="34" charset="-120"/>
              </a:rPr>
              <a:t>©Simplilearn. All rights reserved.</a:t>
            </a:r>
            <a:endParaRPr lang="en-US" sz="900" dirty="0"/>
          </a:p>
        </p:txBody>
      </p:sp>
      <p:sp>
        <p:nvSpPr>
          <p:cNvPr id="4" name="Text 2"/>
          <p:cNvSpPr/>
          <p:nvPr/>
        </p:nvSpPr>
        <p:spPr>
          <a:xfrm>
            <a:off x="7863840" y="4846320"/>
            <a:ext cx="685800" cy="228600"/>
          </a:xfrm>
          <a:prstGeom prst="rect">
            <a:avLst/>
          </a:prstGeom>
          <a:noFill/>
          <a:ln/>
        </p:spPr>
        <p:txBody>
          <a:bodyPr wrap="square" lIns="0" tIns="0" rIns="0" bIns="0" rtlCol="0" anchor="ctr"/>
          <a:lstStyle/>
          <a:p>
            <a:pPr marL="0" indent="0">
              <a:buNone/>
            </a:pPr>
            <a:r>
              <a:rPr lang="en-US" sz="1100" b="1" dirty="0">
                <a:solidFill>
                  <a:srgbClr val="FFFFFF"/>
                </a:solidFill>
                <a:latin typeface="Arial" pitchFamily="34" charset="0"/>
                <a:ea typeface="Arial" pitchFamily="34" charset="-122"/>
                <a:cs typeface="Arial" pitchFamily="34" charset="-120"/>
              </a:rPr>
              <a:t>simpli</a:t>
            </a:r>
            <a:endParaRPr lang="en-US" sz="1100" dirty="0"/>
          </a:p>
        </p:txBody>
      </p:sp>
      <p:sp>
        <p:nvSpPr>
          <p:cNvPr id="5" name="Text 3"/>
          <p:cNvSpPr/>
          <p:nvPr/>
        </p:nvSpPr>
        <p:spPr>
          <a:xfrm>
            <a:off x="8549640" y="4846320"/>
            <a:ext cx="548640" cy="228600"/>
          </a:xfrm>
          <a:prstGeom prst="rect">
            <a:avLst/>
          </a:prstGeom>
          <a:noFill/>
          <a:ln/>
        </p:spPr>
        <p:txBody>
          <a:bodyPr wrap="square" lIns="0" tIns="0" rIns="0" bIns="0" rtlCol="0" anchor="ctr"/>
          <a:lstStyle/>
          <a:p>
            <a:pPr marL="0" indent="0">
              <a:buNone/>
            </a:pPr>
            <a:r>
              <a:rPr lang="en-US" sz="1100" b="1" dirty="0">
                <a:solidFill>
                  <a:srgbClr val="FF6B35"/>
                </a:solidFill>
                <a:latin typeface="Arial" pitchFamily="34" charset="0"/>
                <a:ea typeface="Arial" pitchFamily="34" charset="-122"/>
                <a:cs typeface="Arial" pitchFamily="34" charset="-120"/>
              </a:rPr>
              <a:t>learn</a:t>
            </a:r>
            <a:endParaRPr lang="en-US" sz="1100" dirty="0"/>
          </a:p>
        </p:txBody>
      </p:sp>
      <p:sp>
        <p:nvSpPr>
          <p:cNvPr id="6" name="Text 4"/>
          <p:cNvSpPr/>
          <p:nvPr/>
        </p:nvSpPr>
        <p:spPr>
          <a:xfrm>
            <a:off x="274320" y="182880"/>
            <a:ext cx="3657600" cy="365760"/>
          </a:xfrm>
          <a:prstGeom prst="rect">
            <a:avLst/>
          </a:prstGeom>
          <a:noFill/>
          <a:ln/>
        </p:spPr>
        <p:txBody>
          <a:bodyPr wrap="square" lIns="0" tIns="0" rIns="0" bIns="0" rtlCol="0" anchor="ctr"/>
          <a:lstStyle/>
          <a:p>
            <a:pPr marL="0" indent="0">
              <a:buNone/>
            </a:pPr>
            <a:r>
              <a:rPr lang="en-US" sz="2000" b="1" dirty="0">
                <a:solidFill>
                  <a:srgbClr val="1A4A8A"/>
                </a:solidFill>
                <a:latin typeface="Arial Black" pitchFamily="34" charset="0"/>
                <a:ea typeface="Arial Black" pitchFamily="34" charset="-122"/>
                <a:cs typeface="Arial Black" pitchFamily="34" charset="-120"/>
              </a:rPr>
              <a:t>DATA AND</a:t>
            </a:r>
            <a:endParaRPr lang="en-US" sz="2000" dirty="0"/>
          </a:p>
        </p:txBody>
      </p:sp>
      <p:sp>
        <p:nvSpPr>
          <p:cNvPr id="7" name="Text 5"/>
          <p:cNvSpPr/>
          <p:nvPr/>
        </p:nvSpPr>
        <p:spPr>
          <a:xfrm>
            <a:off x="274320" y="502920"/>
            <a:ext cx="4572000" cy="274320"/>
          </a:xfrm>
          <a:prstGeom prst="rect">
            <a:avLst/>
          </a:prstGeom>
          <a:noFill/>
          <a:ln/>
        </p:spPr>
        <p:txBody>
          <a:bodyPr wrap="square" lIns="0" tIns="0" rIns="0" bIns="0" rtlCol="0" anchor="ctr"/>
          <a:lstStyle/>
          <a:p>
            <a:pPr marL="0" indent="0">
              <a:buNone/>
            </a:pPr>
            <a:r>
              <a:rPr lang="en-US" sz="1000" b="1" dirty="0">
                <a:solidFill>
                  <a:srgbClr val="1A4A8A"/>
                </a:solidFill>
                <a:latin typeface="Arial" pitchFamily="34" charset="0"/>
                <a:ea typeface="Arial" pitchFamily="34" charset="-122"/>
                <a:cs typeface="Arial" pitchFamily="34" charset="-120"/>
              </a:rPr>
              <a:t>ARTIFICIAL INTELLIGENCE</a:t>
            </a:r>
            <a:endParaRPr lang="en-US" sz="1000" dirty="0"/>
          </a:p>
        </p:txBody>
      </p:sp>
      <p:sp>
        <p:nvSpPr>
          <p:cNvPr id="8" name="Text 6"/>
          <p:cNvSpPr/>
          <p:nvPr/>
        </p:nvSpPr>
        <p:spPr>
          <a:xfrm>
            <a:off x="3840480" y="658368"/>
            <a:ext cx="5120640" cy="457200"/>
          </a:xfrm>
          <a:prstGeom prst="rect">
            <a:avLst/>
          </a:prstGeom>
          <a:noFill/>
          <a:ln/>
        </p:spPr>
        <p:txBody>
          <a:bodyPr wrap="square" lIns="0" tIns="0" rIns="0" bIns="0" rtlCol="0" anchor="ctr"/>
          <a:lstStyle/>
          <a:p>
            <a:pPr marL="0" indent="0">
              <a:buNone/>
            </a:pPr>
            <a:r>
              <a:rPr lang="en-US" sz="2400" b="1" dirty="0">
                <a:solidFill>
                  <a:srgbClr val="FFFFFF"/>
                </a:solidFill>
                <a:latin typeface="Calibri" pitchFamily="34" charset="0"/>
                <a:ea typeface="Calibri" pitchFamily="34" charset="-122"/>
                <a:cs typeface="Calibri" pitchFamily="34" charset="-120"/>
              </a:rPr>
              <a:t>Tasks to Perform</a:t>
            </a:r>
            <a:endParaRPr lang="en-US" sz="2400" dirty="0"/>
          </a:p>
        </p:txBody>
      </p:sp>
      <p:sp>
        <p:nvSpPr>
          <p:cNvPr id="9" name="Shape 7"/>
          <p:cNvSpPr/>
          <p:nvPr/>
        </p:nvSpPr>
        <p:spPr>
          <a:xfrm>
            <a:off x="3566160" y="1170432"/>
            <a:ext cx="5349240" cy="3520440"/>
          </a:xfrm>
          <a:prstGeom prst="roundRect">
            <a:avLst>
              <a:gd name="adj" fmla="val 3117"/>
            </a:avLst>
          </a:prstGeom>
          <a:solidFill>
            <a:srgbClr val="112B55"/>
          </a:solidFill>
          <a:ln w="12700">
            <a:solidFill>
              <a:srgbClr val="1A3A6B"/>
            </a:solidFill>
            <a:prstDash val="solid"/>
          </a:ln>
        </p:spPr>
      </p:sp>
      <p:sp>
        <p:nvSpPr>
          <p:cNvPr id="10" name="Text 8"/>
          <p:cNvSpPr/>
          <p:nvPr/>
        </p:nvSpPr>
        <p:spPr>
          <a:xfrm>
            <a:off x="3749040" y="1298448"/>
            <a:ext cx="5074920" cy="347472"/>
          </a:xfrm>
          <a:prstGeom prst="rect">
            <a:avLst/>
          </a:prstGeom>
          <a:noFill/>
          <a:ln/>
        </p:spPr>
        <p:txBody>
          <a:bodyPr wrap="square" rtlCol="0" anchor="ctr"/>
          <a:lstStyle/>
          <a:p>
            <a:pPr marL="0" indent="0">
              <a:buNone/>
            </a:pPr>
            <a:r>
              <a:rPr lang="en-US" sz="1300" dirty="0">
                <a:solidFill>
                  <a:srgbClr val="B8D4EE"/>
                </a:solidFill>
                <a:latin typeface="Calibri" pitchFamily="34" charset="0"/>
                <a:ea typeface="Calibri" pitchFamily="34" charset="-122"/>
                <a:cs typeface="Calibri" pitchFamily="34" charset="-120"/>
              </a:rPr>
              <a:t>Perform the below tasks on the dataset provided using Tableau</a:t>
            </a:r>
            <a:endParaRPr lang="en-US" sz="1300" dirty="0"/>
          </a:p>
        </p:txBody>
      </p:sp>
      <p:sp>
        <p:nvSpPr>
          <p:cNvPr id="11" name="Text 9"/>
          <p:cNvSpPr/>
          <p:nvPr/>
        </p:nvSpPr>
        <p:spPr>
          <a:xfrm>
            <a:off x="3749040" y="1719072"/>
            <a:ext cx="5029200" cy="2743200"/>
          </a:xfrm>
          <a:prstGeom prst="rect">
            <a:avLst/>
          </a:prstGeom>
          <a:noFill/>
          <a:ln/>
        </p:spPr>
        <p:txBody>
          <a:bodyPr wrap="square" rtlCol="0" anchor="t"/>
          <a:lstStyle/>
          <a:p>
            <a:pPr marL="0" indent="0">
              <a:buNone/>
            </a:pPr>
            <a:r>
              <a:rPr lang="en-US" sz="1400" b="1" dirty="0">
                <a:solidFill>
                  <a:srgbClr val="FFFFFF"/>
                </a:solidFill>
                <a:latin typeface="Calibri" pitchFamily="34" charset="0"/>
                <a:ea typeface="Calibri" pitchFamily="34" charset="-122"/>
                <a:cs typeface="Calibri" pitchFamily="34" charset="-120"/>
              </a:rPr>
              <a:t>3.  Create two parameters: Primary Region and Secondary Region with all regions listed in them.</a:t>
            </a:r>
            <a:endParaRPr lang="en-US" sz="1400" dirty="0"/>
          </a:p>
          <a:p>
            <a:pPr marL="0" indent="0">
              <a:buNone/>
            </a:pPr>
            <a:r>
              <a:rPr lang="en-US" sz="1300" dirty="0">
                <a:solidFill>
                  <a:srgbClr val="B8D4EE"/>
                </a:solidFill>
                <a:latin typeface="Calibri" pitchFamily="34" charset="0"/>
                <a:ea typeface="Calibri" pitchFamily="34" charset="-122"/>
                <a:cs typeface="Calibri" pitchFamily="34" charset="-120"/>
              </a:rPr>
              <a:t>     •  Create Parameters for Primary Region and Secondary Region</a:t>
            </a:r>
            <a:endParaRPr lang="en-US" sz="1400" dirty="0"/>
          </a:p>
          <a:p>
            <a:pPr marL="0" indent="0">
              <a:buNone/>
            </a:pPr>
            <a:r>
              <a:rPr lang="en-US" sz="1300" dirty="0">
                <a:solidFill>
                  <a:srgbClr val="B8D4EE"/>
                </a:solidFill>
                <a:latin typeface="Calibri" pitchFamily="34" charset="0"/>
                <a:ea typeface="Calibri" pitchFamily="34" charset="-122"/>
                <a:cs typeface="Calibri" pitchFamily="34" charset="-120"/>
              </a:rPr>
              <a:t>     •  Create a Calculated Field for both Primary Region and Secondary Region</a:t>
            </a:r>
            <a:endParaRPr lang="en-US" sz="1400" dirty="0"/>
          </a:p>
          <a:p>
            <a:pPr marL="0" indent="0">
              <a:buNone/>
            </a:pPr>
            <a:r>
              <a:rPr lang="en-US" sz="1000" dirty="0">
                <a:solidFill>
                  <a:srgbClr val="000000"/>
                </a:solidFill>
              </a:rPr>
              <a:t> </a:t>
            </a:r>
            <a:endParaRPr lang="en-US" sz="1400" dirty="0"/>
          </a:p>
          <a:p>
            <a:pPr marL="0" indent="0">
              <a:buNone/>
            </a:pPr>
            <a:r>
              <a:rPr lang="en-US" sz="1400" b="1" dirty="0">
                <a:solidFill>
                  <a:srgbClr val="FFFFFF"/>
                </a:solidFill>
                <a:latin typeface="Calibri" pitchFamily="34" charset="0"/>
                <a:ea typeface="Calibri" pitchFamily="34" charset="-122"/>
                <a:cs typeface="Calibri" pitchFamily="34" charset="-120"/>
              </a:rPr>
              <a:t>4.  Create a First Order Date</a:t>
            </a:r>
            <a:endParaRPr lang="en-US" sz="1400" dirty="0"/>
          </a:p>
          <a:p>
            <a:pPr marL="0" indent="0">
              <a:buNone/>
            </a:pPr>
            <a:r>
              <a:rPr lang="en-US" sz="1300" dirty="0">
                <a:solidFill>
                  <a:srgbClr val="B8D4EE"/>
                </a:solidFill>
                <a:latin typeface="Calibri" pitchFamily="34" charset="0"/>
                <a:ea typeface="Calibri" pitchFamily="34" charset="-122"/>
                <a:cs typeface="Calibri" pitchFamily="34" charset="-120"/>
              </a:rPr>
              <a:t>     •  Create a Calculated Field and name it as the First Order Date</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0" y="4389120"/>
            <a:ext cx="9144000" cy="754380"/>
          </a:xfrm>
          <a:prstGeom prst="rect">
            <a:avLst/>
          </a:prstGeom>
          <a:solidFill>
            <a:srgbClr val="091A35">
              <a:alpha val="70000"/>
            </a:srgbClr>
          </a:solidFill>
          <a:ln/>
        </p:spPr>
      </p:sp>
      <p:sp>
        <p:nvSpPr>
          <p:cNvPr id="3" name="Text 1"/>
          <p:cNvSpPr/>
          <p:nvPr/>
        </p:nvSpPr>
        <p:spPr>
          <a:xfrm>
            <a:off x="182880" y="4846320"/>
            <a:ext cx="3657600" cy="228600"/>
          </a:xfrm>
          <a:prstGeom prst="rect">
            <a:avLst/>
          </a:prstGeom>
          <a:noFill/>
          <a:ln/>
        </p:spPr>
        <p:txBody>
          <a:bodyPr wrap="square" lIns="0" tIns="0" rIns="0" bIns="0" rtlCol="0" anchor="ctr"/>
          <a:lstStyle/>
          <a:p>
            <a:pPr marL="0" indent="0">
              <a:buNone/>
            </a:pPr>
            <a:r>
              <a:rPr lang="en-US" sz="900" dirty="0">
                <a:solidFill>
                  <a:srgbClr val="8FA8C0"/>
                </a:solidFill>
                <a:latin typeface="Calibri" pitchFamily="34" charset="0"/>
                <a:ea typeface="Calibri" pitchFamily="34" charset="-122"/>
                <a:cs typeface="Calibri" pitchFamily="34" charset="-120"/>
              </a:rPr>
              <a:t>©Simplilearn. All rights reserved.</a:t>
            </a:r>
            <a:endParaRPr lang="en-US" sz="900" dirty="0"/>
          </a:p>
        </p:txBody>
      </p:sp>
      <p:sp>
        <p:nvSpPr>
          <p:cNvPr id="4" name="Text 2"/>
          <p:cNvSpPr/>
          <p:nvPr/>
        </p:nvSpPr>
        <p:spPr>
          <a:xfrm>
            <a:off x="7863840" y="4846320"/>
            <a:ext cx="685800" cy="228600"/>
          </a:xfrm>
          <a:prstGeom prst="rect">
            <a:avLst/>
          </a:prstGeom>
          <a:noFill/>
          <a:ln/>
        </p:spPr>
        <p:txBody>
          <a:bodyPr wrap="square" lIns="0" tIns="0" rIns="0" bIns="0" rtlCol="0" anchor="ctr"/>
          <a:lstStyle/>
          <a:p>
            <a:pPr marL="0" indent="0">
              <a:buNone/>
            </a:pPr>
            <a:r>
              <a:rPr lang="en-US" sz="1100" b="1" dirty="0">
                <a:solidFill>
                  <a:srgbClr val="FFFFFF"/>
                </a:solidFill>
                <a:latin typeface="Arial" pitchFamily="34" charset="0"/>
                <a:ea typeface="Arial" pitchFamily="34" charset="-122"/>
                <a:cs typeface="Arial" pitchFamily="34" charset="-120"/>
              </a:rPr>
              <a:t>simpli</a:t>
            </a:r>
            <a:endParaRPr lang="en-US" sz="1100" dirty="0"/>
          </a:p>
        </p:txBody>
      </p:sp>
      <p:sp>
        <p:nvSpPr>
          <p:cNvPr id="5" name="Text 3"/>
          <p:cNvSpPr/>
          <p:nvPr/>
        </p:nvSpPr>
        <p:spPr>
          <a:xfrm>
            <a:off x="8549640" y="4846320"/>
            <a:ext cx="548640" cy="228600"/>
          </a:xfrm>
          <a:prstGeom prst="rect">
            <a:avLst/>
          </a:prstGeom>
          <a:noFill/>
          <a:ln/>
        </p:spPr>
        <p:txBody>
          <a:bodyPr wrap="square" lIns="0" tIns="0" rIns="0" bIns="0" rtlCol="0" anchor="ctr"/>
          <a:lstStyle/>
          <a:p>
            <a:pPr marL="0" indent="0">
              <a:buNone/>
            </a:pPr>
            <a:r>
              <a:rPr lang="en-US" sz="1100" b="1" dirty="0">
                <a:solidFill>
                  <a:srgbClr val="FF6B35"/>
                </a:solidFill>
                <a:latin typeface="Arial" pitchFamily="34" charset="0"/>
                <a:ea typeface="Arial" pitchFamily="34" charset="-122"/>
                <a:cs typeface="Arial" pitchFamily="34" charset="-120"/>
              </a:rPr>
              <a:t>learn</a:t>
            </a:r>
            <a:endParaRPr lang="en-US" sz="1100" dirty="0"/>
          </a:p>
        </p:txBody>
      </p:sp>
      <p:sp>
        <p:nvSpPr>
          <p:cNvPr id="6" name="Text 4"/>
          <p:cNvSpPr/>
          <p:nvPr/>
        </p:nvSpPr>
        <p:spPr>
          <a:xfrm>
            <a:off x="274320" y="182880"/>
            <a:ext cx="3657600" cy="365760"/>
          </a:xfrm>
          <a:prstGeom prst="rect">
            <a:avLst/>
          </a:prstGeom>
          <a:noFill/>
          <a:ln/>
        </p:spPr>
        <p:txBody>
          <a:bodyPr wrap="square" lIns="0" tIns="0" rIns="0" bIns="0" rtlCol="0" anchor="ctr"/>
          <a:lstStyle/>
          <a:p>
            <a:pPr marL="0" indent="0">
              <a:buNone/>
            </a:pPr>
            <a:r>
              <a:rPr lang="en-US" sz="2000" b="1" dirty="0">
                <a:solidFill>
                  <a:srgbClr val="1A4A8A"/>
                </a:solidFill>
                <a:latin typeface="Arial Black" pitchFamily="34" charset="0"/>
                <a:ea typeface="Arial Black" pitchFamily="34" charset="-122"/>
                <a:cs typeface="Arial Black" pitchFamily="34" charset="-120"/>
              </a:rPr>
              <a:t>DATA AND</a:t>
            </a:r>
            <a:endParaRPr lang="en-US" sz="2000" dirty="0"/>
          </a:p>
        </p:txBody>
      </p:sp>
      <p:sp>
        <p:nvSpPr>
          <p:cNvPr id="7" name="Text 5"/>
          <p:cNvSpPr/>
          <p:nvPr/>
        </p:nvSpPr>
        <p:spPr>
          <a:xfrm>
            <a:off x="274320" y="502920"/>
            <a:ext cx="4572000" cy="274320"/>
          </a:xfrm>
          <a:prstGeom prst="rect">
            <a:avLst/>
          </a:prstGeom>
          <a:noFill/>
          <a:ln/>
        </p:spPr>
        <p:txBody>
          <a:bodyPr wrap="square" lIns="0" tIns="0" rIns="0" bIns="0" rtlCol="0" anchor="ctr"/>
          <a:lstStyle/>
          <a:p>
            <a:pPr marL="0" indent="0">
              <a:buNone/>
            </a:pPr>
            <a:r>
              <a:rPr lang="en-US" sz="1000" b="1" dirty="0">
                <a:solidFill>
                  <a:srgbClr val="1A4A8A"/>
                </a:solidFill>
                <a:latin typeface="Arial" pitchFamily="34" charset="0"/>
                <a:ea typeface="Arial" pitchFamily="34" charset="-122"/>
                <a:cs typeface="Arial" pitchFamily="34" charset="-120"/>
              </a:rPr>
              <a:t>ARTIFICIAL INTELLIGENCE</a:t>
            </a:r>
            <a:endParaRPr lang="en-US" sz="1000" dirty="0"/>
          </a:p>
        </p:txBody>
      </p:sp>
      <p:sp>
        <p:nvSpPr>
          <p:cNvPr id="8" name="Text 6"/>
          <p:cNvSpPr/>
          <p:nvPr/>
        </p:nvSpPr>
        <p:spPr>
          <a:xfrm>
            <a:off x="3840480" y="658368"/>
            <a:ext cx="5120640" cy="457200"/>
          </a:xfrm>
          <a:prstGeom prst="rect">
            <a:avLst/>
          </a:prstGeom>
          <a:noFill/>
          <a:ln/>
        </p:spPr>
        <p:txBody>
          <a:bodyPr wrap="square" lIns="0" tIns="0" rIns="0" bIns="0" rtlCol="0" anchor="ctr"/>
          <a:lstStyle/>
          <a:p>
            <a:pPr marL="0" indent="0">
              <a:buNone/>
            </a:pPr>
            <a:r>
              <a:rPr lang="en-US" sz="2400" b="1" dirty="0">
                <a:solidFill>
                  <a:srgbClr val="FFFFFF"/>
                </a:solidFill>
                <a:latin typeface="Calibri" pitchFamily="34" charset="0"/>
                <a:ea typeface="Calibri" pitchFamily="34" charset="-122"/>
                <a:cs typeface="Calibri" pitchFamily="34" charset="-120"/>
              </a:rPr>
              <a:t>Tasks to Perform</a:t>
            </a:r>
            <a:endParaRPr lang="en-US" sz="2400" dirty="0"/>
          </a:p>
        </p:txBody>
      </p:sp>
      <p:sp>
        <p:nvSpPr>
          <p:cNvPr id="9" name="Shape 7"/>
          <p:cNvSpPr/>
          <p:nvPr/>
        </p:nvSpPr>
        <p:spPr>
          <a:xfrm>
            <a:off x="3566160" y="1170432"/>
            <a:ext cx="5349240" cy="3520440"/>
          </a:xfrm>
          <a:prstGeom prst="roundRect">
            <a:avLst>
              <a:gd name="adj" fmla="val 3117"/>
            </a:avLst>
          </a:prstGeom>
          <a:solidFill>
            <a:srgbClr val="112B55"/>
          </a:solidFill>
          <a:ln w="12700">
            <a:solidFill>
              <a:srgbClr val="1A3A6B"/>
            </a:solidFill>
            <a:prstDash val="solid"/>
          </a:ln>
        </p:spPr>
      </p:sp>
      <p:sp>
        <p:nvSpPr>
          <p:cNvPr id="10" name="Text 8"/>
          <p:cNvSpPr/>
          <p:nvPr/>
        </p:nvSpPr>
        <p:spPr>
          <a:xfrm>
            <a:off x="3749040" y="1298448"/>
            <a:ext cx="5074920" cy="347472"/>
          </a:xfrm>
          <a:prstGeom prst="rect">
            <a:avLst/>
          </a:prstGeom>
          <a:noFill/>
          <a:ln/>
        </p:spPr>
        <p:txBody>
          <a:bodyPr wrap="square" rtlCol="0" anchor="ctr"/>
          <a:lstStyle/>
          <a:p>
            <a:pPr marL="0" indent="0">
              <a:buNone/>
            </a:pPr>
            <a:r>
              <a:rPr lang="en-US" sz="1300" dirty="0">
                <a:solidFill>
                  <a:srgbClr val="B8D4EE"/>
                </a:solidFill>
                <a:latin typeface="Calibri" pitchFamily="34" charset="0"/>
                <a:ea typeface="Calibri" pitchFamily="34" charset="-122"/>
                <a:cs typeface="Calibri" pitchFamily="34" charset="-120"/>
              </a:rPr>
              <a:t>Perform the below tasks on the dataset provided using Tableau</a:t>
            </a:r>
            <a:endParaRPr lang="en-US" sz="1300" dirty="0"/>
          </a:p>
        </p:txBody>
      </p:sp>
      <p:sp>
        <p:nvSpPr>
          <p:cNvPr id="11" name="Text 9"/>
          <p:cNvSpPr/>
          <p:nvPr/>
        </p:nvSpPr>
        <p:spPr>
          <a:xfrm>
            <a:off x="3749040" y="1719072"/>
            <a:ext cx="5029200" cy="2743200"/>
          </a:xfrm>
          <a:prstGeom prst="rect">
            <a:avLst/>
          </a:prstGeom>
          <a:noFill/>
          <a:ln/>
        </p:spPr>
        <p:txBody>
          <a:bodyPr wrap="square" rtlCol="0" anchor="t"/>
          <a:lstStyle/>
          <a:p>
            <a:pPr marL="0" indent="0">
              <a:buNone/>
            </a:pPr>
            <a:r>
              <a:rPr lang="en-US" sz="1400" b="1" dirty="0">
                <a:solidFill>
                  <a:srgbClr val="FFFFFF"/>
                </a:solidFill>
                <a:latin typeface="Calibri" pitchFamily="34" charset="0"/>
                <a:ea typeface="Calibri" pitchFamily="34" charset="-122"/>
                <a:cs typeface="Calibri" pitchFamily="34" charset="-120"/>
              </a:rPr>
              <a:t>5.  Create a dashboard</a:t>
            </a:r>
            <a:endParaRPr lang="en-US" sz="1400" dirty="0"/>
          </a:p>
          <a:p>
            <a:pPr marL="0" indent="0">
              <a:buNone/>
            </a:pPr>
            <a:r>
              <a:rPr lang="en-US" sz="1300" dirty="0">
                <a:solidFill>
                  <a:srgbClr val="B8D4EE"/>
                </a:solidFill>
                <a:latin typeface="Calibri" pitchFamily="34" charset="0"/>
                <a:ea typeface="Calibri" pitchFamily="34" charset="-122"/>
                <a:cs typeface="Calibri" pitchFamily="34" charset="-120"/>
              </a:rPr>
              <a:t>     •  Align all sheets in the dashboard</a:t>
            </a:r>
            <a:endParaRPr lang="en-US" sz="1400" dirty="0"/>
          </a:p>
          <a:p>
            <a:pPr marL="0" indent="0">
              <a:buNone/>
            </a:pPr>
            <a:r>
              <a:rPr lang="en-US" sz="1000" dirty="0">
                <a:solidFill>
                  <a:srgbClr val="000000"/>
                </a:solidFill>
              </a:rPr>
              <a:t> </a:t>
            </a:r>
            <a:endParaRPr lang="en-US" sz="1400" dirty="0"/>
          </a:p>
          <a:p>
            <a:pPr marL="0" indent="0">
              <a:buNone/>
            </a:pPr>
            <a:r>
              <a:rPr lang="en-US" sz="1400" b="1" dirty="0">
                <a:solidFill>
                  <a:srgbClr val="FFFFFF"/>
                </a:solidFill>
                <a:latin typeface="Calibri" pitchFamily="34" charset="0"/>
                <a:ea typeface="Calibri" pitchFamily="34" charset="-122"/>
                <a:cs typeface="Calibri" pitchFamily="34" charset="-120"/>
              </a:rPr>
              <a:t>6.  Partition the dashboard to display the below details of Primary Region and Secondary Region</a:t>
            </a:r>
            <a:endParaRPr lang="en-US" sz="1400" dirty="0"/>
          </a:p>
          <a:p>
            <a:pPr marL="0" indent="0">
              <a:buNone/>
            </a:pPr>
            <a:r>
              <a:rPr lang="en-US" sz="1300" dirty="0">
                <a:solidFill>
                  <a:srgbClr val="B8D4EE"/>
                </a:solidFill>
                <a:latin typeface="Calibri" pitchFamily="34" charset="0"/>
                <a:ea typeface="Calibri" pitchFamily="34" charset="-122"/>
                <a:cs typeface="Calibri" pitchFamily="34" charset="-120"/>
              </a:rPr>
              <a:t>     •  First Order Date</a:t>
            </a:r>
            <a:endParaRPr lang="en-US" sz="1400" dirty="0"/>
          </a:p>
          <a:p>
            <a:pPr marL="0" indent="0">
              <a:buNone/>
            </a:pPr>
            <a:r>
              <a:rPr lang="en-US" sz="1300" dirty="0">
                <a:solidFill>
                  <a:srgbClr val="B8D4EE"/>
                </a:solidFill>
                <a:latin typeface="Calibri" pitchFamily="34" charset="0"/>
                <a:ea typeface="Calibri" pitchFamily="34" charset="-122"/>
                <a:cs typeface="Calibri" pitchFamily="34" charset="-120"/>
              </a:rPr>
              <a:t>     •  Total Sales</a:t>
            </a:r>
            <a:endParaRPr lang="en-US" sz="1400" dirty="0"/>
          </a:p>
          <a:p>
            <a:pPr marL="0" indent="0">
              <a:buNone/>
            </a:pPr>
            <a:r>
              <a:rPr lang="en-US" sz="1300" dirty="0">
                <a:solidFill>
                  <a:srgbClr val="B8D4EE"/>
                </a:solidFill>
                <a:latin typeface="Calibri" pitchFamily="34" charset="0"/>
                <a:ea typeface="Calibri" pitchFamily="34" charset="-122"/>
                <a:cs typeface="Calibri" pitchFamily="34" charset="-120"/>
              </a:rPr>
              <a:t>     •  Average Sales per Order</a:t>
            </a:r>
            <a:endParaRPr lang="en-US" sz="1400" dirty="0"/>
          </a:p>
          <a:p>
            <a:pPr marL="0" indent="0">
              <a:buNone/>
            </a:pPr>
            <a:r>
              <a:rPr lang="en-US" sz="1300" dirty="0">
                <a:solidFill>
                  <a:srgbClr val="B8D4EE"/>
                </a:solidFill>
                <a:latin typeface="Calibri" pitchFamily="34" charset="0"/>
                <a:ea typeface="Calibri" pitchFamily="34" charset="-122"/>
                <a:cs typeface="Calibri" pitchFamily="34" charset="-120"/>
              </a:rPr>
              <a:t>     •  No. of Customers</a:t>
            </a:r>
            <a:endParaRPr lang="en-US" sz="1400" dirty="0"/>
          </a:p>
          <a:p>
            <a:pPr marL="0" indent="0">
              <a:buNone/>
            </a:pPr>
            <a:r>
              <a:rPr lang="en-US" sz="1300" dirty="0">
                <a:solidFill>
                  <a:srgbClr val="B8D4EE"/>
                </a:solidFill>
                <a:latin typeface="Calibri" pitchFamily="34" charset="0"/>
                <a:ea typeface="Calibri" pitchFamily="34" charset="-122"/>
                <a:cs typeface="Calibri" pitchFamily="34" charset="-120"/>
              </a:rPr>
              <a:t>     •  No. of Orders</a:t>
            </a:r>
            <a:endParaRPr lang="en-US" sz="1400" dirty="0"/>
          </a:p>
          <a:p>
            <a:pPr marL="0" indent="0">
              <a:buNone/>
            </a:pPr>
            <a:r>
              <a:rPr lang="en-US" sz="1300" dirty="0">
                <a:solidFill>
                  <a:srgbClr val="B8D4EE"/>
                </a:solidFill>
                <a:latin typeface="Calibri" pitchFamily="34" charset="0"/>
                <a:ea typeface="Calibri" pitchFamily="34" charset="-122"/>
                <a:cs typeface="Calibri" pitchFamily="34" charset="-120"/>
              </a:rPr>
              <a:t>     •  No. of Products in Sale</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0" y="4389120"/>
            <a:ext cx="9144000" cy="754380"/>
          </a:xfrm>
          <a:prstGeom prst="rect">
            <a:avLst/>
          </a:prstGeom>
          <a:solidFill>
            <a:srgbClr val="091A35">
              <a:alpha val="70000"/>
            </a:srgbClr>
          </a:solidFill>
          <a:ln/>
        </p:spPr>
      </p:sp>
      <p:sp>
        <p:nvSpPr>
          <p:cNvPr id="3" name="Text 1"/>
          <p:cNvSpPr/>
          <p:nvPr/>
        </p:nvSpPr>
        <p:spPr>
          <a:xfrm>
            <a:off x="182880" y="4846320"/>
            <a:ext cx="3657600" cy="228600"/>
          </a:xfrm>
          <a:prstGeom prst="rect">
            <a:avLst/>
          </a:prstGeom>
          <a:noFill/>
          <a:ln/>
        </p:spPr>
        <p:txBody>
          <a:bodyPr wrap="square" lIns="0" tIns="0" rIns="0" bIns="0" rtlCol="0" anchor="ctr"/>
          <a:lstStyle/>
          <a:p>
            <a:pPr marL="0" indent="0">
              <a:buNone/>
            </a:pPr>
            <a:r>
              <a:rPr lang="en-US" sz="900" dirty="0">
                <a:solidFill>
                  <a:srgbClr val="8FA8C0"/>
                </a:solidFill>
                <a:latin typeface="Calibri" pitchFamily="34" charset="0"/>
                <a:ea typeface="Calibri" pitchFamily="34" charset="-122"/>
                <a:cs typeface="Calibri" pitchFamily="34" charset="-120"/>
              </a:rPr>
              <a:t>©Simplilearn. All rights reserved.</a:t>
            </a:r>
            <a:endParaRPr lang="en-US" sz="900" dirty="0"/>
          </a:p>
        </p:txBody>
      </p:sp>
      <p:sp>
        <p:nvSpPr>
          <p:cNvPr id="4" name="Text 2"/>
          <p:cNvSpPr/>
          <p:nvPr/>
        </p:nvSpPr>
        <p:spPr>
          <a:xfrm>
            <a:off x="7863840" y="4846320"/>
            <a:ext cx="685800" cy="228600"/>
          </a:xfrm>
          <a:prstGeom prst="rect">
            <a:avLst/>
          </a:prstGeom>
          <a:noFill/>
          <a:ln/>
        </p:spPr>
        <p:txBody>
          <a:bodyPr wrap="square" lIns="0" tIns="0" rIns="0" bIns="0" rtlCol="0" anchor="ctr"/>
          <a:lstStyle/>
          <a:p>
            <a:pPr marL="0" indent="0">
              <a:buNone/>
            </a:pPr>
            <a:r>
              <a:rPr lang="en-US" sz="1100" b="1" dirty="0">
                <a:solidFill>
                  <a:srgbClr val="FFFFFF"/>
                </a:solidFill>
                <a:latin typeface="Arial" pitchFamily="34" charset="0"/>
                <a:ea typeface="Arial" pitchFamily="34" charset="-122"/>
                <a:cs typeface="Arial" pitchFamily="34" charset="-120"/>
              </a:rPr>
              <a:t>simpli</a:t>
            </a:r>
            <a:endParaRPr lang="en-US" sz="1100" dirty="0"/>
          </a:p>
        </p:txBody>
      </p:sp>
      <p:sp>
        <p:nvSpPr>
          <p:cNvPr id="5" name="Text 3"/>
          <p:cNvSpPr/>
          <p:nvPr/>
        </p:nvSpPr>
        <p:spPr>
          <a:xfrm>
            <a:off x="8549640" y="4846320"/>
            <a:ext cx="548640" cy="228600"/>
          </a:xfrm>
          <a:prstGeom prst="rect">
            <a:avLst/>
          </a:prstGeom>
          <a:noFill/>
          <a:ln/>
        </p:spPr>
        <p:txBody>
          <a:bodyPr wrap="square" lIns="0" tIns="0" rIns="0" bIns="0" rtlCol="0" anchor="ctr"/>
          <a:lstStyle/>
          <a:p>
            <a:pPr marL="0" indent="0">
              <a:buNone/>
            </a:pPr>
            <a:r>
              <a:rPr lang="en-US" sz="1100" b="1" dirty="0">
                <a:solidFill>
                  <a:srgbClr val="FF6B35"/>
                </a:solidFill>
                <a:latin typeface="Arial" pitchFamily="34" charset="0"/>
                <a:ea typeface="Arial" pitchFamily="34" charset="-122"/>
                <a:cs typeface="Arial" pitchFamily="34" charset="-120"/>
              </a:rPr>
              <a:t>learn</a:t>
            </a:r>
            <a:endParaRPr lang="en-US" sz="1100" dirty="0"/>
          </a:p>
        </p:txBody>
      </p:sp>
      <p:sp>
        <p:nvSpPr>
          <p:cNvPr id="6" name="Text 4"/>
          <p:cNvSpPr/>
          <p:nvPr/>
        </p:nvSpPr>
        <p:spPr>
          <a:xfrm>
            <a:off x="274320" y="182880"/>
            <a:ext cx="3657600" cy="365760"/>
          </a:xfrm>
          <a:prstGeom prst="rect">
            <a:avLst/>
          </a:prstGeom>
          <a:noFill/>
          <a:ln/>
        </p:spPr>
        <p:txBody>
          <a:bodyPr wrap="square" lIns="0" tIns="0" rIns="0" bIns="0" rtlCol="0" anchor="ctr"/>
          <a:lstStyle/>
          <a:p>
            <a:pPr marL="0" indent="0">
              <a:buNone/>
            </a:pPr>
            <a:r>
              <a:rPr lang="en-US" sz="2000" b="1" dirty="0">
                <a:solidFill>
                  <a:srgbClr val="1A4A8A"/>
                </a:solidFill>
                <a:latin typeface="Arial Black" pitchFamily="34" charset="0"/>
                <a:ea typeface="Arial Black" pitchFamily="34" charset="-122"/>
                <a:cs typeface="Arial Black" pitchFamily="34" charset="-120"/>
              </a:rPr>
              <a:t>DATA AND</a:t>
            </a:r>
            <a:endParaRPr lang="en-US" sz="2000" dirty="0"/>
          </a:p>
        </p:txBody>
      </p:sp>
      <p:sp>
        <p:nvSpPr>
          <p:cNvPr id="7" name="Text 5"/>
          <p:cNvSpPr/>
          <p:nvPr/>
        </p:nvSpPr>
        <p:spPr>
          <a:xfrm>
            <a:off x="274320" y="502920"/>
            <a:ext cx="4572000" cy="274320"/>
          </a:xfrm>
          <a:prstGeom prst="rect">
            <a:avLst/>
          </a:prstGeom>
          <a:noFill/>
          <a:ln/>
        </p:spPr>
        <p:txBody>
          <a:bodyPr wrap="square" lIns="0" tIns="0" rIns="0" bIns="0" rtlCol="0" anchor="ctr"/>
          <a:lstStyle/>
          <a:p>
            <a:pPr marL="0" indent="0">
              <a:buNone/>
            </a:pPr>
            <a:r>
              <a:rPr lang="en-US" sz="1000" b="1" dirty="0">
                <a:solidFill>
                  <a:srgbClr val="1A4A8A"/>
                </a:solidFill>
                <a:latin typeface="Arial" pitchFamily="34" charset="0"/>
                <a:ea typeface="Arial" pitchFamily="34" charset="-122"/>
                <a:cs typeface="Arial" pitchFamily="34" charset="-120"/>
              </a:rPr>
              <a:t>ARTIFICIAL INTELLIGENCE</a:t>
            </a:r>
            <a:endParaRPr lang="en-US" sz="1000" dirty="0"/>
          </a:p>
        </p:txBody>
      </p:sp>
      <p:sp>
        <p:nvSpPr>
          <p:cNvPr id="8" name="Text 6"/>
          <p:cNvSpPr/>
          <p:nvPr/>
        </p:nvSpPr>
        <p:spPr>
          <a:xfrm>
            <a:off x="274320" y="658368"/>
            <a:ext cx="8595360" cy="457200"/>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Calculated Fields — Formulas</a:t>
            </a:r>
            <a:endParaRPr lang="en-US" sz="2200" dirty="0"/>
          </a:p>
        </p:txBody>
      </p:sp>
      <p:sp>
        <p:nvSpPr>
          <p:cNvPr id="9" name="Shape 7"/>
          <p:cNvSpPr/>
          <p:nvPr/>
        </p:nvSpPr>
        <p:spPr>
          <a:xfrm>
            <a:off x="274320" y="1234440"/>
            <a:ext cx="4206240" cy="1078992"/>
          </a:xfrm>
          <a:prstGeom prst="rect">
            <a:avLst/>
          </a:prstGeom>
          <a:solidFill>
            <a:srgbClr val="1565C0"/>
          </a:solidFill>
          <a:ln/>
        </p:spPr>
      </p:sp>
      <p:sp>
        <p:nvSpPr>
          <p:cNvPr id="10" name="Shape 8"/>
          <p:cNvSpPr/>
          <p:nvPr/>
        </p:nvSpPr>
        <p:spPr>
          <a:xfrm>
            <a:off x="274320" y="1234440"/>
            <a:ext cx="4206240" cy="310896"/>
          </a:xfrm>
          <a:prstGeom prst="rect">
            <a:avLst/>
          </a:prstGeom>
          <a:solidFill>
            <a:srgbClr val="000000">
              <a:alpha val="75000"/>
            </a:srgbClr>
          </a:solidFill>
          <a:ln/>
        </p:spPr>
      </p:sp>
      <p:sp>
        <p:nvSpPr>
          <p:cNvPr id="11" name="Text 9"/>
          <p:cNvSpPr/>
          <p:nvPr/>
        </p:nvSpPr>
        <p:spPr>
          <a:xfrm>
            <a:off x="365760" y="1280160"/>
            <a:ext cx="4023360" cy="237744"/>
          </a:xfrm>
          <a:prstGeom prst="rect">
            <a:avLst/>
          </a:prstGeom>
          <a:noFill/>
          <a:ln/>
        </p:spPr>
        <p:txBody>
          <a:bodyPr wrap="square" lIns="0" tIns="0" rIns="0" bIns="0" rtlCol="0" anchor="ctr"/>
          <a:lstStyle/>
          <a:p>
            <a:pPr marL="0" indent="0">
              <a:buNone/>
            </a:pPr>
            <a:r>
              <a:rPr lang="en-US" sz="1100" b="1" dirty="0">
                <a:solidFill>
                  <a:srgbClr val="FFFFFF"/>
                </a:solidFill>
                <a:latin typeface="Trebuchet MS" pitchFamily="34" charset="0"/>
                <a:ea typeface="Trebuchet MS" pitchFamily="34" charset="-122"/>
                <a:cs typeface="Trebuchet MS" pitchFamily="34" charset="-120"/>
              </a:rPr>
              <a:t>First Order Date</a:t>
            </a:r>
            <a:endParaRPr lang="en-US" sz="1100" dirty="0"/>
          </a:p>
        </p:txBody>
      </p:sp>
      <p:sp>
        <p:nvSpPr>
          <p:cNvPr id="12" name="Text 10"/>
          <p:cNvSpPr/>
          <p:nvPr/>
        </p:nvSpPr>
        <p:spPr>
          <a:xfrm>
            <a:off x="365760" y="1600200"/>
            <a:ext cx="4023360" cy="658368"/>
          </a:xfrm>
          <a:prstGeom prst="rect">
            <a:avLst/>
          </a:prstGeom>
          <a:noFill/>
          <a:ln/>
        </p:spPr>
        <p:txBody>
          <a:bodyPr wrap="square" lIns="0" tIns="0" rIns="0" bIns="0" rtlCol="0" anchor="t"/>
          <a:lstStyle/>
          <a:p>
            <a:pPr marL="0" indent="0">
              <a:buNone/>
            </a:pPr>
            <a:r>
              <a:rPr lang="en-US" sz="950" dirty="0">
                <a:solidFill>
                  <a:srgbClr val="E0F7FA"/>
                </a:solidFill>
                <a:latin typeface="Consolas" pitchFamily="34" charset="0"/>
                <a:ea typeface="Consolas" pitchFamily="34" charset="-122"/>
                <a:cs typeface="Consolas" pitchFamily="34" charset="-120"/>
              </a:rPr>
              <a:t>MIN(IF [Region]=[Primary Region] THEN [Order Date] END)</a:t>
            </a:r>
            <a:endParaRPr lang="en-US" sz="950" dirty="0"/>
          </a:p>
        </p:txBody>
      </p:sp>
      <p:sp>
        <p:nvSpPr>
          <p:cNvPr id="13" name="Shape 11"/>
          <p:cNvSpPr/>
          <p:nvPr/>
        </p:nvSpPr>
        <p:spPr>
          <a:xfrm>
            <a:off x="4663440" y="1234440"/>
            <a:ext cx="4206240" cy="1078992"/>
          </a:xfrm>
          <a:prstGeom prst="rect">
            <a:avLst/>
          </a:prstGeom>
          <a:solidFill>
            <a:srgbClr val="1B5E20"/>
          </a:solidFill>
          <a:ln/>
        </p:spPr>
      </p:sp>
      <p:sp>
        <p:nvSpPr>
          <p:cNvPr id="14" name="Shape 12"/>
          <p:cNvSpPr/>
          <p:nvPr/>
        </p:nvSpPr>
        <p:spPr>
          <a:xfrm>
            <a:off x="4663440" y="1234440"/>
            <a:ext cx="4206240" cy="310896"/>
          </a:xfrm>
          <a:prstGeom prst="rect">
            <a:avLst/>
          </a:prstGeom>
          <a:solidFill>
            <a:srgbClr val="000000">
              <a:alpha val="75000"/>
            </a:srgbClr>
          </a:solidFill>
          <a:ln/>
        </p:spPr>
      </p:sp>
      <p:sp>
        <p:nvSpPr>
          <p:cNvPr id="15" name="Text 13"/>
          <p:cNvSpPr/>
          <p:nvPr/>
        </p:nvSpPr>
        <p:spPr>
          <a:xfrm>
            <a:off x="4754880" y="1280160"/>
            <a:ext cx="4023360" cy="237744"/>
          </a:xfrm>
          <a:prstGeom prst="rect">
            <a:avLst/>
          </a:prstGeom>
          <a:noFill/>
          <a:ln/>
        </p:spPr>
        <p:txBody>
          <a:bodyPr wrap="square" lIns="0" tIns="0" rIns="0" bIns="0" rtlCol="0" anchor="ctr"/>
          <a:lstStyle/>
          <a:p>
            <a:pPr marL="0" indent="0">
              <a:buNone/>
            </a:pPr>
            <a:r>
              <a:rPr lang="en-US" sz="1100" b="1" dirty="0">
                <a:solidFill>
                  <a:srgbClr val="FFFFFF"/>
                </a:solidFill>
                <a:latin typeface="Trebuchet MS" pitchFamily="34" charset="0"/>
                <a:ea typeface="Trebuchet MS" pitchFamily="34" charset="-122"/>
                <a:cs typeface="Trebuchet MS" pitchFamily="34" charset="-120"/>
              </a:rPr>
              <a:t>Total Sales (Primary)</a:t>
            </a:r>
            <a:endParaRPr lang="en-US" sz="1100" dirty="0"/>
          </a:p>
        </p:txBody>
      </p:sp>
      <p:sp>
        <p:nvSpPr>
          <p:cNvPr id="16" name="Text 14"/>
          <p:cNvSpPr/>
          <p:nvPr/>
        </p:nvSpPr>
        <p:spPr>
          <a:xfrm>
            <a:off x="4754880" y="1600200"/>
            <a:ext cx="4023360" cy="658368"/>
          </a:xfrm>
          <a:prstGeom prst="rect">
            <a:avLst/>
          </a:prstGeom>
          <a:noFill/>
          <a:ln/>
        </p:spPr>
        <p:txBody>
          <a:bodyPr wrap="square" lIns="0" tIns="0" rIns="0" bIns="0" rtlCol="0" anchor="t"/>
          <a:lstStyle/>
          <a:p>
            <a:pPr marL="0" indent="0">
              <a:buNone/>
            </a:pPr>
            <a:r>
              <a:rPr lang="en-US" sz="950" dirty="0">
                <a:solidFill>
                  <a:srgbClr val="E0F7FA"/>
                </a:solidFill>
                <a:latin typeface="Consolas" pitchFamily="34" charset="0"/>
                <a:ea typeface="Consolas" pitchFamily="34" charset="-122"/>
                <a:cs typeface="Consolas" pitchFamily="34" charset="-120"/>
              </a:rPr>
              <a:t>SUM(IF [Region]=[Primary Region] THEN [Sales] END)</a:t>
            </a:r>
            <a:endParaRPr lang="en-US" sz="950" dirty="0"/>
          </a:p>
        </p:txBody>
      </p:sp>
      <p:sp>
        <p:nvSpPr>
          <p:cNvPr id="17" name="Shape 15"/>
          <p:cNvSpPr/>
          <p:nvPr/>
        </p:nvSpPr>
        <p:spPr>
          <a:xfrm>
            <a:off x="274320" y="2423160"/>
            <a:ext cx="4206240" cy="1078992"/>
          </a:xfrm>
          <a:prstGeom prst="rect">
            <a:avLst/>
          </a:prstGeom>
          <a:solidFill>
            <a:srgbClr val="006064"/>
          </a:solidFill>
          <a:ln/>
        </p:spPr>
      </p:sp>
      <p:sp>
        <p:nvSpPr>
          <p:cNvPr id="18" name="Shape 16"/>
          <p:cNvSpPr/>
          <p:nvPr/>
        </p:nvSpPr>
        <p:spPr>
          <a:xfrm>
            <a:off x="274320" y="2423160"/>
            <a:ext cx="4206240" cy="310896"/>
          </a:xfrm>
          <a:prstGeom prst="rect">
            <a:avLst/>
          </a:prstGeom>
          <a:solidFill>
            <a:srgbClr val="000000">
              <a:alpha val="75000"/>
            </a:srgbClr>
          </a:solidFill>
          <a:ln/>
        </p:spPr>
      </p:sp>
      <p:sp>
        <p:nvSpPr>
          <p:cNvPr id="19" name="Text 17"/>
          <p:cNvSpPr/>
          <p:nvPr/>
        </p:nvSpPr>
        <p:spPr>
          <a:xfrm>
            <a:off x="365760" y="2468880"/>
            <a:ext cx="4023360" cy="237744"/>
          </a:xfrm>
          <a:prstGeom prst="rect">
            <a:avLst/>
          </a:prstGeom>
          <a:noFill/>
          <a:ln/>
        </p:spPr>
        <p:txBody>
          <a:bodyPr wrap="square" lIns="0" tIns="0" rIns="0" bIns="0" rtlCol="0" anchor="ctr"/>
          <a:lstStyle/>
          <a:p>
            <a:pPr marL="0" indent="0">
              <a:buNone/>
            </a:pPr>
            <a:r>
              <a:rPr lang="en-US" sz="1100" b="1" dirty="0">
                <a:solidFill>
                  <a:srgbClr val="FFFFFF"/>
                </a:solidFill>
                <a:latin typeface="Trebuchet MS" pitchFamily="34" charset="0"/>
                <a:ea typeface="Trebuchet MS" pitchFamily="34" charset="-122"/>
                <a:cs typeface="Trebuchet MS" pitchFamily="34" charset="-120"/>
              </a:rPr>
              <a:t>Avg Sales / Order</a:t>
            </a:r>
            <a:endParaRPr lang="en-US" sz="1100" dirty="0"/>
          </a:p>
        </p:txBody>
      </p:sp>
      <p:sp>
        <p:nvSpPr>
          <p:cNvPr id="20" name="Text 18"/>
          <p:cNvSpPr/>
          <p:nvPr/>
        </p:nvSpPr>
        <p:spPr>
          <a:xfrm>
            <a:off x="365760" y="2788920"/>
            <a:ext cx="4023360" cy="658368"/>
          </a:xfrm>
          <a:prstGeom prst="rect">
            <a:avLst/>
          </a:prstGeom>
          <a:noFill/>
          <a:ln/>
        </p:spPr>
        <p:txBody>
          <a:bodyPr wrap="square" lIns="0" tIns="0" rIns="0" bIns="0" rtlCol="0" anchor="t"/>
          <a:lstStyle/>
          <a:p>
            <a:pPr marL="0" indent="0">
              <a:buNone/>
            </a:pPr>
            <a:r>
              <a:rPr lang="en-US" sz="950" dirty="0">
                <a:solidFill>
                  <a:srgbClr val="E0F7FA"/>
                </a:solidFill>
                <a:latin typeface="Consolas" pitchFamily="34" charset="0"/>
                <a:ea typeface="Consolas" pitchFamily="34" charset="-122"/>
                <a:cs typeface="Consolas" pitchFamily="34" charset="-120"/>
              </a:rPr>
              <a:t>SUM([P.Sales]) / COUNTD(IF [Region]=[Primary Region] THEN [Order ID] END)</a:t>
            </a:r>
            <a:endParaRPr lang="en-US" sz="950" dirty="0"/>
          </a:p>
        </p:txBody>
      </p:sp>
      <p:sp>
        <p:nvSpPr>
          <p:cNvPr id="21" name="Shape 19"/>
          <p:cNvSpPr/>
          <p:nvPr/>
        </p:nvSpPr>
        <p:spPr>
          <a:xfrm>
            <a:off x="4663440" y="2423160"/>
            <a:ext cx="4206240" cy="1078992"/>
          </a:xfrm>
          <a:prstGeom prst="rect">
            <a:avLst/>
          </a:prstGeom>
          <a:solidFill>
            <a:srgbClr val="4A148C"/>
          </a:solidFill>
          <a:ln/>
        </p:spPr>
      </p:sp>
      <p:sp>
        <p:nvSpPr>
          <p:cNvPr id="22" name="Shape 20"/>
          <p:cNvSpPr/>
          <p:nvPr/>
        </p:nvSpPr>
        <p:spPr>
          <a:xfrm>
            <a:off x="4663440" y="2423160"/>
            <a:ext cx="4206240" cy="310896"/>
          </a:xfrm>
          <a:prstGeom prst="rect">
            <a:avLst/>
          </a:prstGeom>
          <a:solidFill>
            <a:srgbClr val="000000">
              <a:alpha val="75000"/>
            </a:srgbClr>
          </a:solidFill>
          <a:ln/>
        </p:spPr>
      </p:sp>
      <p:sp>
        <p:nvSpPr>
          <p:cNvPr id="23" name="Text 21"/>
          <p:cNvSpPr/>
          <p:nvPr/>
        </p:nvSpPr>
        <p:spPr>
          <a:xfrm>
            <a:off x="4754880" y="2468880"/>
            <a:ext cx="4023360" cy="237744"/>
          </a:xfrm>
          <a:prstGeom prst="rect">
            <a:avLst/>
          </a:prstGeom>
          <a:noFill/>
          <a:ln/>
        </p:spPr>
        <p:txBody>
          <a:bodyPr wrap="square" lIns="0" tIns="0" rIns="0" bIns="0" rtlCol="0" anchor="ctr"/>
          <a:lstStyle/>
          <a:p>
            <a:pPr marL="0" indent="0">
              <a:buNone/>
            </a:pPr>
            <a:r>
              <a:rPr lang="en-US" sz="1100" b="1" dirty="0">
                <a:solidFill>
                  <a:srgbClr val="FFFFFF"/>
                </a:solidFill>
                <a:latin typeface="Trebuchet MS" pitchFamily="34" charset="0"/>
                <a:ea typeface="Trebuchet MS" pitchFamily="34" charset="-122"/>
                <a:cs typeface="Trebuchet MS" pitchFamily="34" charset="-120"/>
              </a:rPr>
              <a:t>No. of Customers</a:t>
            </a:r>
            <a:endParaRPr lang="en-US" sz="1100" dirty="0"/>
          </a:p>
        </p:txBody>
      </p:sp>
      <p:sp>
        <p:nvSpPr>
          <p:cNvPr id="24" name="Text 22"/>
          <p:cNvSpPr/>
          <p:nvPr/>
        </p:nvSpPr>
        <p:spPr>
          <a:xfrm>
            <a:off x="4754880" y="2788920"/>
            <a:ext cx="4023360" cy="658368"/>
          </a:xfrm>
          <a:prstGeom prst="rect">
            <a:avLst/>
          </a:prstGeom>
          <a:noFill/>
          <a:ln/>
        </p:spPr>
        <p:txBody>
          <a:bodyPr wrap="square" lIns="0" tIns="0" rIns="0" bIns="0" rtlCol="0" anchor="t"/>
          <a:lstStyle/>
          <a:p>
            <a:pPr marL="0" indent="0">
              <a:buNone/>
            </a:pPr>
            <a:r>
              <a:rPr lang="en-US" sz="950" dirty="0">
                <a:solidFill>
                  <a:srgbClr val="E0F7FA"/>
                </a:solidFill>
                <a:latin typeface="Consolas" pitchFamily="34" charset="0"/>
                <a:ea typeface="Consolas" pitchFamily="34" charset="-122"/>
                <a:cs typeface="Consolas" pitchFamily="34" charset="-120"/>
              </a:rPr>
              <a:t>COUNTD(IF [Region]=[Primary Region] THEN [Customer ID] END)</a:t>
            </a:r>
            <a:endParaRPr lang="en-US" sz="950" dirty="0"/>
          </a:p>
        </p:txBody>
      </p:sp>
      <p:sp>
        <p:nvSpPr>
          <p:cNvPr id="25" name="Shape 23"/>
          <p:cNvSpPr/>
          <p:nvPr/>
        </p:nvSpPr>
        <p:spPr>
          <a:xfrm>
            <a:off x="274320" y="3611880"/>
            <a:ext cx="4206240" cy="1078992"/>
          </a:xfrm>
          <a:prstGeom prst="rect">
            <a:avLst/>
          </a:prstGeom>
          <a:solidFill>
            <a:srgbClr val="E65100"/>
          </a:solidFill>
          <a:ln/>
        </p:spPr>
      </p:sp>
      <p:sp>
        <p:nvSpPr>
          <p:cNvPr id="26" name="Shape 24"/>
          <p:cNvSpPr/>
          <p:nvPr/>
        </p:nvSpPr>
        <p:spPr>
          <a:xfrm>
            <a:off x="274320" y="3611880"/>
            <a:ext cx="4206240" cy="310896"/>
          </a:xfrm>
          <a:prstGeom prst="rect">
            <a:avLst/>
          </a:prstGeom>
          <a:solidFill>
            <a:srgbClr val="000000">
              <a:alpha val="75000"/>
            </a:srgbClr>
          </a:solidFill>
          <a:ln/>
        </p:spPr>
      </p:sp>
      <p:sp>
        <p:nvSpPr>
          <p:cNvPr id="27" name="Text 25"/>
          <p:cNvSpPr/>
          <p:nvPr/>
        </p:nvSpPr>
        <p:spPr>
          <a:xfrm>
            <a:off x="365760" y="3657600"/>
            <a:ext cx="4023360" cy="237744"/>
          </a:xfrm>
          <a:prstGeom prst="rect">
            <a:avLst/>
          </a:prstGeom>
          <a:noFill/>
          <a:ln/>
        </p:spPr>
        <p:txBody>
          <a:bodyPr wrap="square" lIns="0" tIns="0" rIns="0" bIns="0" rtlCol="0" anchor="ctr"/>
          <a:lstStyle/>
          <a:p>
            <a:pPr marL="0" indent="0">
              <a:buNone/>
            </a:pPr>
            <a:r>
              <a:rPr lang="en-US" sz="1100" b="1" dirty="0">
                <a:solidFill>
                  <a:srgbClr val="FFFFFF"/>
                </a:solidFill>
                <a:latin typeface="Trebuchet MS" pitchFamily="34" charset="0"/>
                <a:ea typeface="Trebuchet MS" pitchFamily="34" charset="-122"/>
                <a:cs typeface="Trebuchet MS" pitchFamily="34" charset="-120"/>
              </a:rPr>
              <a:t>No. of Orders</a:t>
            </a:r>
            <a:endParaRPr lang="en-US" sz="1100" dirty="0"/>
          </a:p>
        </p:txBody>
      </p:sp>
      <p:sp>
        <p:nvSpPr>
          <p:cNvPr id="28" name="Text 26"/>
          <p:cNvSpPr/>
          <p:nvPr/>
        </p:nvSpPr>
        <p:spPr>
          <a:xfrm>
            <a:off x="365760" y="3977640"/>
            <a:ext cx="4023360" cy="658368"/>
          </a:xfrm>
          <a:prstGeom prst="rect">
            <a:avLst/>
          </a:prstGeom>
          <a:noFill/>
          <a:ln/>
        </p:spPr>
        <p:txBody>
          <a:bodyPr wrap="square" lIns="0" tIns="0" rIns="0" bIns="0" rtlCol="0" anchor="t"/>
          <a:lstStyle/>
          <a:p>
            <a:pPr marL="0" indent="0">
              <a:buNone/>
            </a:pPr>
            <a:r>
              <a:rPr lang="en-US" sz="950" dirty="0">
                <a:solidFill>
                  <a:srgbClr val="E0F7FA"/>
                </a:solidFill>
                <a:latin typeface="Consolas" pitchFamily="34" charset="0"/>
                <a:ea typeface="Consolas" pitchFamily="34" charset="-122"/>
                <a:cs typeface="Consolas" pitchFamily="34" charset="-120"/>
              </a:rPr>
              <a:t>COUNTD(IF [Region]=[Primary Region] THEN [Order ID] END)</a:t>
            </a:r>
            <a:endParaRPr lang="en-US" sz="950" dirty="0"/>
          </a:p>
        </p:txBody>
      </p:sp>
      <p:sp>
        <p:nvSpPr>
          <p:cNvPr id="29" name="Shape 27"/>
          <p:cNvSpPr/>
          <p:nvPr/>
        </p:nvSpPr>
        <p:spPr>
          <a:xfrm>
            <a:off x="4663440" y="3611880"/>
            <a:ext cx="4206240" cy="1078992"/>
          </a:xfrm>
          <a:prstGeom prst="rect">
            <a:avLst/>
          </a:prstGeom>
          <a:solidFill>
            <a:srgbClr val="827717"/>
          </a:solidFill>
          <a:ln/>
        </p:spPr>
      </p:sp>
      <p:sp>
        <p:nvSpPr>
          <p:cNvPr id="30" name="Shape 28"/>
          <p:cNvSpPr/>
          <p:nvPr/>
        </p:nvSpPr>
        <p:spPr>
          <a:xfrm>
            <a:off x="4663440" y="3611880"/>
            <a:ext cx="4206240" cy="310896"/>
          </a:xfrm>
          <a:prstGeom prst="rect">
            <a:avLst/>
          </a:prstGeom>
          <a:solidFill>
            <a:srgbClr val="000000">
              <a:alpha val="75000"/>
            </a:srgbClr>
          </a:solidFill>
          <a:ln/>
        </p:spPr>
      </p:sp>
      <p:sp>
        <p:nvSpPr>
          <p:cNvPr id="31" name="Text 29"/>
          <p:cNvSpPr/>
          <p:nvPr/>
        </p:nvSpPr>
        <p:spPr>
          <a:xfrm>
            <a:off x="4754880" y="3657600"/>
            <a:ext cx="4023360" cy="237744"/>
          </a:xfrm>
          <a:prstGeom prst="rect">
            <a:avLst/>
          </a:prstGeom>
          <a:noFill/>
          <a:ln/>
        </p:spPr>
        <p:txBody>
          <a:bodyPr wrap="square" lIns="0" tIns="0" rIns="0" bIns="0" rtlCol="0" anchor="ctr"/>
          <a:lstStyle/>
          <a:p>
            <a:pPr marL="0" indent="0">
              <a:buNone/>
            </a:pPr>
            <a:r>
              <a:rPr lang="en-US" sz="1100" b="1" dirty="0">
                <a:solidFill>
                  <a:srgbClr val="FFFFFF"/>
                </a:solidFill>
                <a:latin typeface="Trebuchet MS" pitchFamily="34" charset="0"/>
                <a:ea typeface="Trebuchet MS" pitchFamily="34" charset="-122"/>
                <a:cs typeface="Trebuchet MS" pitchFamily="34" charset="-120"/>
              </a:rPr>
              <a:t>No. of Products</a:t>
            </a:r>
            <a:endParaRPr lang="en-US" sz="1100" dirty="0"/>
          </a:p>
        </p:txBody>
      </p:sp>
      <p:sp>
        <p:nvSpPr>
          <p:cNvPr id="32" name="Text 30"/>
          <p:cNvSpPr/>
          <p:nvPr/>
        </p:nvSpPr>
        <p:spPr>
          <a:xfrm>
            <a:off x="4754880" y="3977640"/>
            <a:ext cx="4023360" cy="658368"/>
          </a:xfrm>
          <a:prstGeom prst="rect">
            <a:avLst/>
          </a:prstGeom>
          <a:noFill/>
          <a:ln/>
        </p:spPr>
        <p:txBody>
          <a:bodyPr wrap="square" lIns="0" tIns="0" rIns="0" bIns="0" rtlCol="0" anchor="t"/>
          <a:lstStyle/>
          <a:p>
            <a:pPr marL="0" indent="0">
              <a:buNone/>
            </a:pPr>
            <a:r>
              <a:rPr lang="en-US" sz="950" dirty="0">
                <a:solidFill>
                  <a:srgbClr val="E0F7FA"/>
                </a:solidFill>
                <a:latin typeface="Consolas" pitchFamily="34" charset="0"/>
                <a:ea typeface="Consolas" pitchFamily="34" charset="-122"/>
                <a:cs typeface="Consolas" pitchFamily="34" charset="-120"/>
              </a:rPr>
              <a:t>COUNTD(IF [Region]=[Primary Region] THEN [Product ID] END)</a:t>
            </a:r>
            <a:endParaRPr lang="en-US" sz="950" dirty="0"/>
          </a:p>
        </p:txBody>
      </p:sp>
      <p:sp>
        <p:nvSpPr>
          <p:cNvPr id="33" name="Text 31"/>
          <p:cNvSpPr/>
          <p:nvPr/>
        </p:nvSpPr>
        <p:spPr>
          <a:xfrm>
            <a:off x="274320" y="4709160"/>
            <a:ext cx="8595360" cy="256032"/>
          </a:xfrm>
          <a:prstGeom prst="rect">
            <a:avLst/>
          </a:prstGeom>
          <a:noFill/>
          <a:ln/>
        </p:spPr>
        <p:txBody>
          <a:bodyPr wrap="square" lIns="0" tIns="0" rIns="0" bIns="0" rtlCol="0" anchor="ctr"/>
          <a:lstStyle/>
          <a:p>
            <a:pPr marL="0" indent="0">
              <a:buNone/>
            </a:pPr>
            <a:r>
              <a:rPr lang="en-US" sz="1000" i="1" dirty="0">
                <a:solidFill>
                  <a:srgbClr val="8FA8C0"/>
                </a:solidFill>
                <a:latin typeface="Calibri" pitchFamily="34" charset="0"/>
                <a:ea typeface="Calibri" pitchFamily="34" charset="-122"/>
                <a:cs typeface="Calibri" pitchFamily="34" charset="-120"/>
              </a:rPr>
              <a:t>Note: Duplicate all fields replacing [Primary Region] with [Secondary Region]</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0" y="4389120"/>
            <a:ext cx="9144000" cy="754380"/>
          </a:xfrm>
          <a:prstGeom prst="rect">
            <a:avLst/>
          </a:prstGeom>
          <a:solidFill>
            <a:srgbClr val="091A35">
              <a:alpha val="70000"/>
            </a:srgbClr>
          </a:solidFill>
          <a:ln/>
        </p:spPr>
      </p:sp>
      <p:sp>
        <p:nvSpPr>
          <p:cNvPr id="3" name="Text 1"/>
          <p:cNvSpPr/>
          <p:nvPr/>
        </p:nvSpPr>
        <p:spPr>
          <a:xfrm>
            <a:off x="182880" y="4846320"/>
            <a:ext cx="3657600" cy="228600"/>
          </a:xfrm>
          <a:prstGeom prst="rect">
            <a:avLst/>
          </a:prstGeom>
          <a:noFill/>
          <a:ln/>
        </p:spPr>
        <p:txBody>
          <a:bodyPr wrap="square" lIns="0" tIns="0" rIns="0" bIns="0" rtlCol="0" anchor="ctr"/>
          <a:lstStyle/>
          <a:p>
            <a:pPr marL="0" indent="0">
              <a:buNone/>
            </a:pPr>
            <a:r>
              <a:rPr lang="en-US" sz="900" dirty="0">
                <a:solidFill>
                  <a:srgbClr val="8FA8C0"/>
                </a:solidFill>
                <a:latin typeface="Calibri" pitchFamily="34" charset="0"/>
                <a:ea typeface="Calibri" pitchFamily="34" charset="-122"/>
                <a:cs typeface="Calibri" pitchFamily="34" charset="-120"/>
              </a:rPr>
              <a:t>©Simplilearn. All rights reserved.</a:t>
            </a:r>
            <a:endParaRPr lang="en-US" sz="900" dirty="0"/>
          </a:p>
        </p:txBody>
      </p:sp>
      <p:sp>
        <p:nvSpPr>
          <p:cNvPr id="4" name="Text 2"/>
          <p:cNvSpPr/>
          <p:nvPr/>
        </p:nvSpPr>
        <p:spPr>
          <a:xfrm>
            <a:off x="7863840" y="4846320"/>
            <a:ext cx="685800" cy="228600"/>
          </a:xfrm>
          <a:prstGeom prst="rect">
            <a:avLst/>
          </a:prstGeom>
          <a:noFill/>
          <a:ln/>
        </p:spPr>
        <p:txBody>
          <a:bodyPr wrap="square" lIns="0" tIns="0" rIns="0" bIns="0" rtlCol="0" anchor="ctr"/>
          <a:lstStyle/>
          <a:p>
            <a:pPr marL="0" indent="0">
              <a:buNone/>
            </a:pPr>
            <a:r>
              <a:rPr lang="en-US" sz="1100" b="1" dirty="0">
                <a:solidFill>
                  <a:srgbClr val="FFFFFF"/>
                </a:solidFill>
                <a:latin typeface="Arial" pitchFamily="34" charset="0"/>
                <a:ea typeface="Arial" pitchFamily="34" charset="-122"/>
                <a:cs typeface="Arial" pitchFamily="34" charset="-120"/>
              </a:rPr>
              <a:t>simpli</a:t>
            </a:r>
            <a:endParaRPr lang="en-US" sz="1100" dirty="0"/>
          </a:p>
        </p:txBody>
      </p:sp>
      <p:sp>
        <p:nvSpPr>
          <p:cNvPr id="5" name="Text 3"/>
          <p:cNvSpPr/>
          <p:nvPr/>
        </p:nvSpPr>
        <p:spPr>
          <a:xfrm>
            <a:off x="8549640" y="4846320"/>
            <a:ext cx="548640" cy="228600"/>
          </a:xfrm>
          <a:prstGeom prst="rect">
            <a:avLst/>
          </a:prstGeom>
          <a:noFill/>
          <a:ln/>
        </p:spPr>
        <p:txBody>
          <a:bodyPr wrap="square" lIns="0" tIns="0" rIns="0" bIns="0" rtlCol="0" anchor="ctr"/>
          <a:lstStyle/>
          <a:p>
            <a:pPr marL="0" indent="0">
              <a:buNone/>
            </a:pPr>
            <a:r>
              <a:rPr lang="en-US" sz="1100" b="1" dirty="0">
                <a:solidFill>
                  <a:srgbClr val="FF6B35"/>
                </a:solidFill>
                <a:latin typeface="Arial" pitchFamily="34" charset="0"/>
                <a:ea typeface="Arial" pitchFamily="34" charset="-122"/>
                <a:cs typeface="Arial" pitchFamily="34" charset="-120"/>
              </a:rPr>
              <a:t>learn</a:t>
            </a:r>
            <a:endParaRPr lang="en-US" sz="1100" dirty="0"/>
          </a:p>
        </p:txBody>
      </p:sp>
      <p:sp>
        <p:nvSpPr>
          <p:cNvPr id="6" name="Text 4"/>
          <p:cNvSpPr/>
          <p:nvPr/>
        </p:nvSpPr>
        <p:spPr>
          <a:xfrm>
            <a:off x="274320" y="182880"/>
            <a:ext cx="3657600" cy="365760"/>
          </a:xfrm>
          <a:prstGeom prst="rect">
            <a:avLst/>
          </a:prstGeom>
          <a:noFill/>
          <a:ln/>
        </p:spPr>
        <p:txBody>
          <a:bodyPr wrap="square" lIns="0" tIns="0" rIns="0" bIns="0" rtlCol="0" anchor="ctr"/>
          <a:lstStyle/>
          <a:p>
            <a:pPr marL="0" indent="0">
              <a:buNone/>
            </a:pPr>
            <a:r>
              <a:rPr lang="en-US" sz="2000" b="1" dirty="0">
                <a:solidFill>
                  <a:srgbClr val="1A4A8A"/>
                </a:solidFill>
                <a:latin typeface="Arial Black" pitchFamily="34" charset="0"/>
                <a:ea typeface="Arial Black" pitchFamily="34" charset="-122"/>
                <a:cs typeface="Arial Black" pitchFamily="34" charset="-120"/>
              </a:rPr>
              <a:t>DATA AND</a:t>
            </a:r>
            <a:endParaRPr lang="en-US" sz="2000" dirty="0"/>
          </a:p>
        </p:txBody>
      </p:sp>
      <p:sp>
        <p:nvSpPr>
          <p:cNvPr id="7" name="Text 5"/>
          <p:cNvSpPr/>
          <p:nvPr/>
        </p:nvSpPr>
        <p:spPr>
          <a:xfrm>
            <a:off x="274320" y="502920"/>
            <a:ext cx="4572000" cy="274320"/>
          </a:xfrm>
          <a:prstGeom prst="rect">
            <a:avLst/>
          </a:prstGeom>
          <a:noFill/>
          <a:ln/>
        </p:spPr>
        <p:txBody>
          <a:bodyPr wrap="square" lIns="0" tIns="0" rIns="0" bIns="0" rtlCol="0" anchor="ctr"/>
          <a:lstStyle/>
          <a:p>
            <a:pPr marL="0" indent="0">
              <a:buNone/>
            </a:pPr>
            <a:r>
              <a:rPr lang="en-US" sz="1000" b="1" dirty="0">
                <a:solidFill>
                  <a:srgbClr val="1A4A8A"/>
                </a:solidFill>
                <a:latin typeface="Arial" pitchFamily="34" charset="0"/>
                <a:ea typeface="Arial" pitchFamily="34" charset="-122"/>
                <a:cs typeface="Arial" pitchFamily="34" charset="-120"/>
              </a:rPr>
              <a:t>ARTIFICIAL INTELLIGENCE</a:t>
            </a:r>
            <a:endParaRPr lang="en-US" sz="1000" dirty="0"/>
          </a:p>
        </p:txBody>
      </p:sp>
      <p:sp>
        <p:nvSpPr>
          <p:cNvPr id="8" name="Text 6"/>
          <p:cNvSpPr/>
          <p:nvPr/>
        </p:nvSpPr>
        <p:spPr>
          <a:xfrm>
            <a:off x="274320" y="658368"/>
            <a:ext cx="8595360" cy="457200"/>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Dashboard Preview</a:t>
            </a:r>
            <a:endParaRPr lang="en-US" sz="2200" dirty="0"/>
          </a:p>
        </p:txBody>
      </p:sp>
      <p:pic>
        <p:nvPicPr>
          <p:cNvPr id="9" name="Image 0" descr="preencoded.png"/>
          <p:cNvPicPr>
            <a:picLocks noChangeAspect="1"/>
          </p:cNvPicPr>
          <p:nvPr/>
        </p:nvPicPr>
        <p:blipFill>
          <a:blip r:embed="rId3"/>
          <a:stretch>
            <a:fillRect/>
          </a:stretch>
        </p:blipFill>
        <p:spPr>
          <a:xfrm>
            <a:off x="274320" y="1143000"/>
            <a:ext cx="8595360" cy="347472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0" y="4389120"/>
            <a:ext cx="9144000" cy="754380"/>
          </a:xfrm>
          <a:prstGeom prst="rect">
            <a:avLst/>
          </a:prstGeom>
          <a:solidFill>
            <a:srgbClr val="091A35">
              <a:alpha val="70000"/>
            </a:srgbClr>
          </a:solidFill>
          <a:ln/>
        </p:spPr>
      </p:sp>
      <p:sp>
        <p:nvSpPr>
          <p:cNvPr id="3" name="Text 1"/>
          <p:cNvSpPr/>
          <p:nvPr/>
        </p:nvSpPr>
        <p:spPr>
          <a:xfrm>
            <a:off x="182880" y="4846320"/>
            <a:ext cx="3657600" cy="228600"/>
          </a:xfrm>
          <a:prstGeom prst="rect">
            <a:avLst/>
          </a:prstGeom>
          <a:noFill/>
          <a:ln/>
        </p:spPr>
        <p:txBody>
          <a:bodyPr wrap="square" lIns="0" tIns="0" rIns="0" bIns="0" rtlCol="0" anchor="ctr"/>
          <a:lstStyle/>
          <a:p>
            <a:pPr marL="0" indent="0">
              <a:buNone/>
            </a:pPr>
            <a:r>
              <a:rPr lang="en-US" sz="900" dirty="0">
                <a:solidFill>
                  <a:srgbClr val="8FA8C0"/>
                </a:solidFill>
                <a:latin typeface="Calibri" pitchFamily="34" charset="0"/>
                <a:ea typeface="Calibri" pitchFamily="34" charset="-122"/>
                <a:cs typeface="Calibri" pitchFamily="34" charset="-120"/>
              </a:rPr>
              <a:t>©Simplilearn. All rights reserved.</a:t>
            </a:r>
            <a:endParaRPr lang="en-US" sz="900" dirty="0"/>
          </a:p>
        </p:txBody>
      </p:sp>
      <p:sp>
        <p:nvSpPr>
          <p:cNvPr id="4" name="Text 2"/>
          <p:cNvSpPr/>
          <p:nvPr/>
        </p:nvSpPr>
        <p:spPr>
          <a:xfrm>
            <a:off x="7863840" y="4846320"/>
            <a:ext cx="685800" cy="228600"/>
          </a:xfrm>
          <a:prstGeom prst="rect">
            <a:avLst/>
          </a:prstGeom>
          <a:noFill/>
          <a:ln/>
        </p:spPr>
        <p:txBody>
          <a:bodyPr wrap="square" lIns="0" tIns="0" rIns="0" bIns="0" rtlCol="0" anchor="ctr"/>
          <a:lstStyle/>
          <a:p>
            <a:pPr marL="0" indent="0">
              <a:buNone/>
            </a:pPr>
            <a:r>
              <a:rPr lang="en-US" sz="1100" b="1" dirty="0">
                <a:solidFill>
                  <a:srgbClr val="FFFFFF"/>
                </a:solidFill>
                <a:latin typeface="Arial" pitchFamily="34" charset="0"/>
                <a:ea typeface="Arial" pitchFamily="34" charset="-122"/>
                <a:cs typeface="Arial" pitchFamily="34" charset="-120"/>
              </a:rPr>
              <a:t>simpli</a:t>
            </a:r>
            <a:endParaRPr lang="en-US" sz="1100" dirty="0"/>
          </a:p>
        </p:txBody>
      </p:sp>
      <p:sp>
        <p:nvSpPr>
          <p:cNvPr id="5" name="Text 3"/>
          <p:cNvSpPr/>
          <p:nvPr/>
        </p:nvSpPr>
        <p:spPr>
          <a:xfrm>
            <a:off x="8549640" y="4846320"/>
            <a:ext cx="548640" cy="228600"/>
          </a:xfrm>
          <a:prstGeom prst="rect">
            <a:avLst/>
          </a:prstGeom>
          <a:noFill/>
          <a:ln/>
        </p:spPr>
        <p:txBody>
          <a:bodyPr wrap="square" lIns="0" tIns="0" rIns="0" bIns="0" rtlCol="0" anchor="ctr"/>
          <a:lstStyle/>
          <a:p>
            <a:pPr marL="0" indent="0">
              <a:buNone/>
            </a:pPr>
            <a:r>
              <a:rPr lang="en-US" sz="1100" b="1" dirty="0">
                <a:solidFill>
                  <a:srgbClr val="FF6B35"/>
                </a:solidFill>
                <a:latin typeface="Arial" pitchFamily="34" charset="0"/>
                <a:ea typeface="Arial" pitchFamily="34" charset="-122"/>
                <a:cs typeface="Arial" pitchFamily="34" charset="-120"/>
              </a:rPr>
              <a:t>learn</a:t>
            </a:r>
            <a:endParaRPr lang="en-US" sz="1100" dirty="0"/>
          </a:p>
        </p:txBody>
      </p:sp>
      <p:sp>
        <p:nvSpPr>
          <p:cNvPr id="6" name="Text 4"/>
          <p:cNvSpPr/>
          <p:nvPr/>
        </p:nvSpPr>
        <p:spPr>
          <a:xfrm>
            <a:off x="274320" y="182880"/>
            <a:ext cx="3657600" cy="365760"/>
          </a:xfrm>
          <a:prstGeom prst="rect">
            <a:avLst/>
          </a:prstGeom>
          <a:noFill/>
          <a:ln/>
        </p:spPr>
        <p:txBody>
          <a:bodyPr wrap="square" lIns="0" tIns="0" rIns="0" bIns="0" rtlCol="0" anchor="ctr"/>
          <a:lstStyle/>
          <a:p>
            <a:pPr marL="0" indent="0">
              <a:buNone/>
            </a:pPr>
            <a:r>
              <a:rPr lang="en-US" sz="2000" b="1" dirty="0">
                <a:solidFill>
                  <a:srgbClr val="1A4A8A"/>
                </a:solidFill>
                <a:latin typeface="Arial Black" pitchFamily="34" charset="0"/>
                <a:ea typeface="Arial Black" pitchFamily="34" charset="-122"/>
                <a:cs typeface="Arial Black" pitchFamily="34" charset="-120"/>
              </a:rPr>
              <a:t>DATA AND</a:t>
            </a:r>
            <a:endParaRPr lang="en-US" sz="2000" dirty="0"/>
          </a:p>
        </p:txBody>
      </p:sp>
      <p:sp>
        <p:nvSpPr>
          <p:cNvPr id="7" name="Text 5"/>
          <p:cNvSpPr/>
          <p:nvPr/>
        </p:nvSpPr>
        <p:spPr>
          <a:xfrm>
            <a:off x="274320" y="502920"/>
            <a:ext cx="4572000" cy="274320"/>
          </a:xfrm>
          <a:prstGeom prst="rect">
            <a:avLst/>
          </a:prstGeom>
          <a:noFill/>
          <a:ln/>
        </p:spPr>
        <p:txBody>
          <a:bodyPr wrap="square" lIns="0" tIns="0" rIns="0" bIns="0" rtlCol="0" anchor="ctr"/>
          <a:lstStyle/>
          <a:p>
            <a:pPr marL="0" indent="0">
              <a:buNone/>
            </a:pPr>
            <a:r>
              <a:rPr lang="en-US" sz="1000" b="1" dirty="0">
                <a:solidFill>
                  <a:srgbClr val="1A4A8A"/>
                </a:solidFill>
                <a:latin typeface="Arial" pitchFamily="34" charset="0"/>
                <a:ea typeface="Arial" pitchFamily="34" charset="-122"/>
                <a:cs typeface="Arial" pitchFamily="34" charset="-120"/>
              </a:rPr>
              <a:t>ARTIFICIAL INTELLIGENCE</a:t>
            </a:r>
            <a:endParaRPr lang="en-US" sz="1000" dirty="0"/>
          </a:p>
        </p:txBody>
      </p:sp>
      <p:sp>
        <p:nvSpPr>
          <p:cNvPr id="8" name="Text 6"/>
          <p:cNvSpPr/>
          <p:nvPr/>
        </p:nvSpPr>
        <p:spPr>
          <a:xfrm>
            <a:off x="3840480" y="731520"/>
            <a:ext cx="5120640" cy="502920"/>
          </a:xfrm>
          <a:prstGeom prst="rect">
            <a:avLst/>
          </a:prstGeom>
          <a:noFill/>
          <a:ln/>
        </p:spPr>
        <p:txBody>
          <a:bodyPr wrap="square" lIns="0" tIns="0" rIns="0" bIns="0" rtlCol="0" anchor="ctr"/>
          <a:lstStyle/>
          <a:p>
            <a:pPr marL="0" indent="0">
              <a:buNone/>
            </a:pPr>
            <a:r>
              <a:rPr lang="en-US" sz="2400" b="1" dirty="0">
                <a:solidFill>
                  <a:srgbClr val="FFFFFF"/>
                </a:solidFill>
                <a:latin typeface="Calibri" pitchFamily="34" charset="0"/>
                <a:ea typeface="Calibri" pitchFamily="34" charset="-122"/>
                <a:cs typeface="Calibri" pitchFamily="34" charset="-120"/>
              </a:rPr>
              <a:t>Project Outcome</a:t>
            </a:r>
            <a:endParaRPr lang="en-US" sz="2400" dirty="0"/>
          </a:p>
        </p:txBody>
      </p:sp>
      <p:sp>
        <p:nvSpPr>
          <p:cNvPr id="9" name="Shape 7"/>
          <p:cNvSpPr/>
          <p:nvPr/>
        </p:nvSpPr>
        <p:spPr>
          <a:xfrm>
            <a:off x="3657600" y="1325880"/>
            <a:ext cx="5257800" cy="2926080"/>
          </a:xfrm>
          <a:prstGeom prst="roundRect">
            <a:avLst>
              <a:gd name="adj" fmla="val 3750"/>
            </a:avLst>
          </a:prstGeom>
          <a:solidFill>
            <a:srgbClr val="112B55"/>
          </a:solidFill>
          <a:ln w="12700">
            <a:solidFill>
              <a:srgbClr val="1A3A6B"/>
            </a:solidFill>
            <a:prstDash val="solid"/>
          </a:ln>
        </p:spPr>
      </p:sp>
      <p:sp>
        <p:nvSpPr>
          <p:cNvPr id="10" name="Text 8"/>
          <p:cNvSpPr/>
          <p:nvPr/>
        </p:nvSpPr>
        <p:spPr>
          <a:xfrm>
            <a:off x="3840480" y="1554480"/>
            <a:ext cx="4937760" cy="2468880"/>
          </a:xfrm>
          <a:prstGeom prst="rect">
            <a:avLst/>
          </a:prstGeom>
          <a:noFill/>
          <a:ln/>
        </p:spPr>
        <p:txBody>
          <a:bodyPr wrap="square" rtlCol="0" anchor="t"/>
          <a:lstStyle/>
          <a:p>
            <a:pPr marL="0" indent="0">
              <a:buNone/>
            </a:pPr>
            <a:r>
              <a:rPr lang="en-US" sz="1500" b="1" dirty="0">
                <a:solidFill>
                  <a:srgbClr val="00B4F0"/>
                </a:solidFill>
              </a:rPr>
              <a:t>•  </a:t>
            </a:r>
            <a:r>
              <a:rPr lang="en-US" sz="1500" dirty="0">
                <a:solidFill>
                  <a:srgbClr val="FFFFFF"/>
                </a:solidFill>
                <a:latin typeface="Calibri" pitchFamily="34" charset="0"/>
                <a:ea typeface="Calibri" pitchFamily="34" charset="-122"/>
                <a:cs typeface="Calibri" pitchFamily="34" charset="-120"/>
              </a:rPr>
              <a:t>This project is designed to help create a dashboard to visualize the sales comparison between two selected regions.</a:t>
            </a:r>
            <a:endParaRPr lang="en-US" sz="1500" dirty="0"/>
          </a:p>
          <a:p>
            <a:pPr marL="0" indent="0">
              <a:buNone/>
            </a:pPr>
            <a:r>
              <a:rPr lang="en-US" sz="1200" dirty="0">
                <a:solidFill>
                  <a:srgbClr val="000000"/>
                </a:solidFill>
              </a:rPr>
              <a:t> </a:t>
            </a:r>
            <a:endParaRPr lang="en-US" sz="1500" dirty="0"/>
          </a:p>
          <a:p>
            <a:pPr marL="0" indent="0">
              <a:buNone/>
            </a:pPr>
            <a:r>
              <a:rPr lang="en-US" sz="1500" b="1" dirty="0">
                <a:solidFill>
                  <a:srgbClr val="00B4F0"/>
                </a:solidFill>
              </a:rPr>
              <a:t>•  </a:t>
            </a:r>
            <a:r>
              <a:rPr lang="en-US" sz="1500" dirty="0">
                <a:solidFill>
                  <a:srgbClr val="FFFFFF"/>
                </a:solidFill>
                <a:latin typeface="Calibri" pitchFamily="34" charset="0"/>
                <a:ea typeface="Calibri" pitchFamily="34" charset="-122"/>
                <a:cs typeface="Calibri" pitchFamily="34" charset="-120"/>
              </a:rPr>
              <a:t>In order to increase sales, the organization can take preventive measures using dashboards.</a:t>
            </a:r>
            <a:endParaRPr lang="en-US" sz="15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0" y="4389120"/>
            <a:ext cx="9144000" cy="754380"/>
          </a:xfrm>
          <a:prstGeom prst="rect">
            <a:avLst/>
          </a:prstGeom>
          <a:solidFill>
            <a:srgbClr val="091A35">
              <a:alpha val="70000"/>
            </a:srgbClr>
          </a:solidFill>
          <a:ln/>
        </p:spPr>
      </p:sp>
      <p:sp>
        <p:nvSpPr>
          <p:cNvPr id="3" name="Text 1"/>
          <p:cNvSpPr/>
          <p:nvPr/>
        </p:nvSpPr>
        <p:spPr>
          <a:xfrm>
            <a:off x="182880" y="4846320"/>
            <a:ext cx="3657600" cy="228600"/>
          </a:xfrm>
          <a:prstGeom prst="rect">
            <a:avLst/>
          </a:prstGeom>
          <a:noFill/>
          <a:ln/>
        </p:spPr>
        <p:txBody>
          <a:bodyPr wrap="square" lIns="0" tIns="0" rIns="0" bIns="0" rtlCol="0" anchor="ctr"/>
          <a:lstStyle/>
          <a:p>
            <a:pPr marL="0" indent="0">
              <a:buNone/>
            </a:pPr>
            <a:r>
              <a:rPr lang="en-US" sz="900" dirty="0">
                <a:solidFill>
                  <a:srgbClr val="8FA8C0"/>
                </a:solidFill>
                <a:latin typeface="Calibri" pitchFamily="34" charset="0"/>
                <a:ea typeface="Calibri" pitchFamily="34" charset="-122"/>
                <a:cs typeface="Calibri" pitchFamily="34" charset="-120"/>
              </a:rPr>
              <a:t>©Simplilearn. All rights reserved.</a:t>
            </a:r>
            <a:endParaRPr lang="en-US" sz="900" dirty="0"/>
          </a:p>
        </p:txBody>
      </p:sp>
      <p:sp>
        <p:nvSpPr>
          <p:cNvPr id="4" name="Text 2"/>
          <p:cNvSpPr/>
          <p:nvPr/>
        </p:nvSpPr>
        <p:spPr>
          <a:xfrm>
            <a:off x="7863840" y="4846320"/>
            <a:ext cx="685800" cy="228600"/>
          </a:xfrm>
          <a:prstGeom prst="rect">
            <a:avLst/>
          </a:prstGeom>
          <a:noFill/>
          <a:ln/>
        </p:spPr>
        <p:txBody>
          <a:bodyPr wrap="square" lIns="0" tIns="0" rIns="0" bIns="0" rtlCol="0" anchor="ctr"/>
          <a:lstStyle/>
          <a:p>
            <a:pPr marL="0" indent="0">
              <a:buNone/>
            </a:pPr>
            <a:r>
              <a:rPr lang="en-US" sz="1100" b="1" dirty="0">
                <a:solidFill>
                  <a:srgbClr val="FFFFFF"/>
                </a:solidFill>
                <a:latin typeface="Arial" pitchFamily="34" charset="0"/>
                <a:ea typeface="Arial" pitchFamily="34" charset="-122"/>
                <a:cs typeface="Arial" pitchFamily="34" charset="-120"/>
              </a:rPr>
              <a:t>simpli</a:t>
            </a:r>
            <a:endParaRPr lang="en-US" sz="1100" dirty="0"/>
          </a:p>
        </p:txBody>
      </p:sp>
      <p:sp>
        <p:nvSpPr>
          <p:cNvPr id="5" name="Text 3"/>
          <p:cNvSpPr/>
          <p:nvPr/>
        </p:nvSpPr>
        <p:spPr>
          <a:xfrm>
            <a:off x="8549640" y="4846320"/>
            <a:ext cx="548640" cy="228600"/>
          </a:xfrm>
          <a:prstGeom prst="rect">
            <a:avLst/>
          </a:prstGeom>
          <a:noFill/>
          <a:ln/>
        </p:spPr>
        <p:txBody>
          <a:bodyPr wrap="square" lIns="0" tIns="0" rIns="0" bIns="0" rtlCol="0" anchor="ctr"/>
          <a:lstStyle/>
          <a:p>
            <a:pPr marL="0" indent="0">
              <a:buNone/>
            </a:pPr>
            <a:r>
              <a:rPr lang="en-US" sz="1100" b="1" dirty="0">
                <a:solidFill>
                  <a:srgbClr val="FF6B35"/>
                </a:solidFill>
                <a:latin typeface="Arial" pitchFamily="34" charset="0"/>
                <a:ea typeface="Arial" pitchFamily="34" charset="-122"/>
                <a:cs typeface="Arial" pitchFamily="34" charset="-120"/>
              </a:rPr>
              <a:t>learn</a:t>
            </a:r>
            <a:endParaRPr lang="en-US" sz="1100" dirty="0"/>
          </a:p>
        </p:txBody>
      </p:sp>
      <p:sp>
        <p:nvSpPr>
          <p:cNvPr id="6" name="Text 4"/>
          <p:cNvSpPr/>
          <p:nvPr/>
        </p:nvSpPr>
        <p:spPr>
          <a:xfrm>
            <a:off x="274320" y="182880"/>
            <a:ext cx="3657600" cy="365760"/>
          </a:xfrm>
          <a:prstGeom prst="rect">
            <a:avLst/>
          </a:prstGeom>
          <a:noFill/>
          <a:ln/>
        </p:spPr>
        <p:txBody>
          <a:bodyPr wrap="square" lIns="0" tIns="0" rIns="0" bIns="0" rtlCol="0" anchor="ctr"/>
          <a:lstStyle/>
          <a:p>
            <a:pPr marL="0" indent="0">
              <a:buNone/>
            </a:pPr>
            <a:r>
              <a:rPr lang="en-US" sz="2000" b="1" dirty="0">
                <a:solidFill>
                  <a:srgbClr val="1A4A8A"/>
                </a:solidFill>
                <a:latin typeface="Arial Black" pitchFamily="34" charset="0"/>
                <a:ea typeface="Arial Black" pitchFamily="34" charset="-122"/>
                <a:cs typeface="Arial Black" pitchFamily="34" charset="-120"/>
              </a:rPr>
              <a:t>DATA AND</a:t>
            </a:r>
            <a:endParaRPr lang="en-US" sz="2000" dirty="0"/>
          </a:p>
        </p:txBody>
      </p:sp>
      <p:sp>
        <p:nvSpPr>
          <p:cNvPr id="7" name="Text 5"/>
          <p:cNvSpPr/>
          <p:nvPr/>
        </p:nvSpPr>
        <p:spPr>
          <a:xfrm>
            <a:off x="274320" y="502920"/>
            <a:ext cx="4572000" cy="274320"/>
          </a:xfrm>
          <a:prstGeom prst="rect">
            <a:avLst/>
          </a:prstGeom>
          <a:noFill/>
          <a:ln/>
        </p:spPr>
        <p:txBody>
          <a:bodyPr wrap="square" lIns="0" tIns="0" rIns="0" bIns="0" rtlCol="0" anchor="ctr"/>
          <a:lstStyle/>
          <a:p>
            <a:pPr marL="0" indent="0">
              <a:buNone/>
            </a:pPr>
            <a:r>
              <a:rPr lang="en-US" sz="1000" b="1" dirty="0">
                <a:solidFill>
                  <a:srgbClr val="1A4A8A"/>
                </a:solidFill>
                <a:latin typeface="Arial" pitchFamily="34" charset="0"/>
                <a:ea typeface="Arial" pitchFamily="34" charset="-122"/>
                <a:cs typeface="Arial" pitchFamily="34" charset="-120"/>
              </a:rPr>
              <a:t>ARTIFICIAL INTELLIGENCE</a:t>
            </a:r>
            <a:endParaRPr lang="en-US" sz="1000" dirty="0"/>
          </a:p>
        </p:txBody>
      </p:sp>
      <p:sp>
        <p:nvSpPr>
          <p:cNvPr id="8" name="Text 6"/>
          <p:cNvSpPr/>
          <p:nvPr/>
        </p:nvSpPr>
        <p:spPr>
          <a:xfrm>
            <a:off x="3840480" y="658368"/>
            <a:ext cx="5120640" cy="502920"/>
          </a:xfrm>
          <a:prstGeom prst="rect">
            <a:avLst/>
          </a:prstGeom>
          <a:noFill/>
          <a:ln/>
        </p:spPr>
        <p:txBody>
          <a:bodyPr wrap="square" lIns="0" tIns="0" rIns="0" bIns="0" rtlCol="0" anchor="ctr"/>
          <a:lstStyle/>
          <a:p>
            <a:pPr marL="0" indent="0">
              <a:buNone/>
            </a:pPr>
            <a:r>
              <a:rPr lang="en-US" sz="2400" b="1" dirty="0">
                <a:solidFill>
                  <a:srgbClr val="FFFFFF"/>
                </a:solidFill>
                <a:latin typeface="Calibri" pitchFamily="34" charset="0"/>
                <a:ea typeface="Calibri" pitchFamily="34" charset="-122"/>
                <a:cs typeface="Calibri" pitchFamily="34" charset="-120"/>
              </a:rPr>
              <a:t>Submission Process</a:t>
            </a:r>
            <a:endParaRPr lang="en-US" sz="2400" dirty="0"/>
          </a:p>
        </p:txBody>
      </p:sp>
      <p:sp>
        <p:nvSpPr>
          <p:cNvPr id="9" name="Shape 7"/>
          <p:cNvSpPr/>
          <p:nvPr/>
        </p:nvSpPr>
        <p:spPr>
          <a:xfrm>
            <a:off x="3566160" y="1188720"/>
            <a:ext cx="5349240" cy="3474720"/>
          </a:xfrm>
          <a:prstGeom prst="roundRect">
            <a:avLst>
              <a:gd name="adj" fmla="val 3158"/>
            </a:avLst>
          </a:prstGeom>
          <a:solidFill>
            <a:srgbClr val="112B55"/>
          </a:solidFill>
          <a:ln w="12700">
            <a:solidFill>
              <a:srgbClr val="1A3A6B"/>
            </a:solidFill>
            <a:prstDash val="solid"/>
          </a:ln>
        </p:spPr>
      </p:sp>
      <p:sp>
        <p:nvSpPr>
          <p:cNvPr id="10" name="Text 8"/>
          <p:cNvSpPr/>
          <p:nvPr/>
        </p:nvSpPr>
        <p:spPr>
          <a:xfrm>
            <a:off x="3749040" y="1353312"/>
            <a:ext cx="5074920" cy="365760"/>
          </a:xfrm>
          <a:prstGeom prst="rect">
            <a:avLst/>
          </a:prstGeom>
          <a:noFill/>
          <a:ln/>
        </p:spPr>
        <p:txBody>
          <a:bodyPr wrap="square" rtlCol="0" anchor="ctr"/>
          <a:lstStyle/>
          <a:p>
            <a:pPr marL="0" indent="0">
              <a:buNone/>
            </a:pPr>
            <a:r>
              <a:rPr lang="en-US" sz="1300" b="1" dirty="0">
                <a:solidFill>
                  <a:srgbClr val="00B4F0"/>
                </a:solidFill>
              </a:rPr>
              <a:t>1.  </a:t>
            </a:r>
            <a:r>
              <a:rPr lang="en-US" sz="1300" dirty="0">
                <a:solidFill>
                  <a:srgbClr val="FFFFFF"/>
                </a:solidFill>
                <a:latin typeface="Calibri" pitchFamily="34" charset="0"/>
                <a:ea typeface="Calibri" pitchFamily="34" charset="-122"/>
                <a:cs typeface="Calibri" pitchFamily="34" charset="-120"/>
              </a:rPr>
              <a:t>Complete the project in Tableau Public</a:t>
            </a:r>
            <a:endParaRPr lang="en-US" sz="1300" dirty="0"/>
          </a:p>
        </p:txBody>
      </p:sp>
      <p:sp>
        <p:nvSpPr>
          <p:cNvPr id="11" name="Text 9"/>
          <p:cNvSpPr/>
          <p:nvPr/>
        </p:nvSpPr>
        <p:spPr>
          <a:xfrm>
            <a:off x="3749040" y="1746504"/>
            <a:ext cx="5074920" cy="365760"/>
          </a:xfrm>
          <a:prstGeom prst="rect">
            <a:avLst/>
          </a:prstGeom>
          <a:noFill/>
          <a:ln/>
        </p:spPr>
        <p:txBody>
          <a:bodyPr wrap="square" rtlCol="0" anchor="ctr"/>
          <a:lstStyle/>
          <a:p>
            <a:pPr marL="0" indent="0">
              <a:buNone/>
            </a:pPr>
            <a:r>
              <a:rPr lang="en-US" sz="1300" b="1" dirty="0">
                <a:solidFill>
                  <a:srgbClr val="00B4F0"/>
                </a:solidFill>
              </a:rPr>
              <a:t>2.  </a:t>
            </a:r>
            <a:r>
              <a:rPr lang="en-US" sz="1300" dirty="0">
                <a:solidFill>
                  <a:srgbClr val="FFFFFF"/>
                </a:solidFill>
                <a:latin typeface="Calibri" pitchFamily="34" charset="0"/>
                <a:ea typeface="Calibri" pitchFamily="34" charset="-122"/>
                <a:cs typeface="Calibri" pitchFamily="34" charset="-120"/>
              </a:rPr>
              <a:t>Complete each task listed in the problem statement</a:t>
            </a:r>
            <a:endParaRPr lang="en-US" sz="1300" dirty="0"/>
          </a:p>
        </p:txBody>
      </p:sp>
      <p:sp>
        <p:nvSpPr>
          <p:cNvPr id="12" name="Text 10"/>
          <p:cNvSpPr/>
          <p:nvPr/>
        </p:nvSpPr>
        <p:spPr>
          <a:xfrm>
            <a:off x="3749040" y="2139696"/>
            <a:ext cx="5074920" cy="365760"/>
          </a:xfrm>
          <a:prstGeom prst="rect">
            <a:avLst/>
          </a:prstGeom>
          <a:noFill/>
          <a:ln/>
        </p:spPr>
        <p:txBody>
          <a:bodyPr wrap="square" rtlCol="0" anchor="ctr"/>
          <a:lstStyle/>
          <a:p>
            <a:pPr marL="0" indent="0">
              <a:buNone/>
            </a:pPr>
            <a:r>
              <a:rPr lang="en-US" sz="1300" b="1" dirty="0">
                <a:solidFill>
                  <a:srgbClr val="00B4F0"/>
                </a:solidFill>
              </a:rPr>
              <a:t>3.  </a:t>
            </a:r>
            <a:r>
              <a:rPr lang="en-US" sz="1300" dirty="0">
                <a:solidFill>
                  <a:srgbClr val="FFFFFF"/>
                </a:solidFill>
                <a:latin typeface="Calibri" pitchFamily="34" charset="0"/>
                <a:ea typeface="Calibri" pitchFamily="34" charset="-122"/>
                <a:cs typeface="Calibri" pitchFamily="34" charset="-120"/>
              </a:rPr>
              <a:t>Save and upload the dashboard on Tableau Public</a:t>
            </a:r>
            <a:endParaRPr lang="en-US" sz="1300" dirty="0"/>
          </a:p>
        </p:txBody>
      </p:sp>
      <p:sp>
        <p:nvSpPr>
          <p:cNvPr id="13" name="Text 11"/>
          <p:cNvSpPr/>
          <p:nvPr/>
        </p:nvSpPr>
        <p:spPr>
          <a:xfrm>
            <a:off x="3749040" y="2532888"/>
            <a:ext cx="5074920" cy="365760"/>
          </a:xfrm>
          <a:prstGeom prst="rect">
            <a:avLst/>
          </a:prstGeom>
          <a:noFill/>
          <a:ln/>
        </p:spPr>
        <p:txBody>
          <a:bodyPr wrap="square" rtlCol="0" anchor="ctr"/>
          <a:lstStyle/>
          <a:p>
            <a:pPr marL="0" indent="0">
              <a:buNone/>
            </a:pPr>
            <a:r>
              <a:rPr lang="en-US" sz="1300" b="1" dirty="0">
                <a:solidFill>
                  <a:srgbClr val="00B4F0"/>
                </a:solidFill>
              </a:rPr>
              <a:t>4.  </a:t>
            </a:r>
            <a:r>
              <a:rPr lang="en-US" sz="1300" dirty="0">
                <a:solidFill>
                  <a:srgbClr val="FFFFFF"/>
                </a:solidFill>
                <a:latin typeface="Calibri" pitchFamily="34" charset="0"/>
                <a:ea typeface="Calibri" pitchFamily="34" charset="-122"/>
                <a:cs typeface="Calibri" pitchFamily="34" charset="-120"/>
              </a:rPr>
              <a:t>Copy the link to the dashboard</a:t>
            </a:r>
            <a:endParaRPr lang="en-US" sz="1300" dirty="0"/>
          </a:p>
        </p:txBody>
      </p:sp>
      <p:sp>
        <p:nvSpPr>
          <p:cNvPr id="14" name="Text 12"/>
          <p:cNvSpPr/>
          <p:nvPr/>
        </p:nvSpPr>
        <p:spPr>
          <a:xfrm>
            <a:off x="3749040" y="2926080"/>
            <a:ext cx="5074920" cy="365760"/>
          </a:xfrm>
          <a:prstGeom prst="rect">
            <a:avLst/>
          </a:prstGeom>
          <a:noFill/>
          <a:ln/>
        </p:spPr>
        <p:txBody>
          <a:bodyPr wrap="square" rtlCol="0" anchor="ctr"/>
          <a:lstStyle/>
          <a:p>
            <a:pPr marL="0" indent="0">
              <a:buNone/>
            </a:pPr>
            <a:r>
              <a:rPr lang="en-US" sz="1300" b="1" dirty="0">
                <a:solidFill>
                  <a:srgbClr val="00B4F0"/>
                </a:solidFill>
              </a:rPr>
              <a:t>5.  </a:t>
            </a:r>
            <a:r>
              <a:rPr lang="en-US" sz="1300" dirty="0">
                <a:solidFill>
                  <a:srgbClr val="FFFFFF"/>
                </a:solidFill>
                <a:latin typeface="Calibri" pitchFamily="34" charset="0"/>
                <a:ea typeface="Calibri" pitchFamily="34" charset="-122"/>
                <a:cs typeface="Calibri" pitchFamily="34" charset="-120"/>
              </a:rPr>
              <a:t>Take screenshots of the results for each question and the corresponding code</a:t>
            </a:r>
            <a:endParaRPr lang="en-US" sz="1300" dirty="0"/>
          </a:p>
        </p:txBody>
      </p:sp>
      <p:sp>
        <p:nvSpPr>
          <p:cNvPr id="15" name="Text 13"/>
          <p:cNvSpPr/>
          <p:nvPr/>
        </p:nvSpPr>
        <p:spPr>
          <a:xfrm>
            <a:off x="3749040" y="3319272"/>
            <a:ext cx="5074920" cy="365760"/>
          </a:xfrm>
          <a:prstGeom prst="rect">
            <a:avLst/>
          </a:prstGeom>
          <a:noFill/>
          <a:ln/>
        </p:spPr>
        <p:txBody>
          <a:bodyPr wrap="square" rtlCol="0" anchor="ctr"/>
          <a:lstStyle/>
          <a:p>
            <a:pPr marL="0" indent="0">
              <a:buNone/>
            </a:pPr>
            <a:r>
              <a:rPr lang="en-US" sz="1300" b="1" dirty="0">
                <a:solidFill>
                  <a:srgbClr val="00B4F0"/>
                </a:solidFill>
              </a:rPr>
              <a:t>6.  </a:t>
            </a:r>
            <a:r>
              <a:rPr lang="en-US" sz="1300" dirty="0">
                <a:solidFill>
                  <a:srgbClr val="FFFFFF"/>
                </a:solidFill>
                <a:latin typeface="Calibri" pitchFamily="34" charset="0"/>
                <a:ea typeface="Calibri" pitchFamily="34" charset="-122"/>
                <a:cs typeface="Calibri" pitchFamily="34" charset="-120"/>
              </a:rPr>
              <a:t>Save it as a document, and submit it using the Assessment tab</a:t>
            </a:r>
            <a:endParaRPr lang="en-US" sz="1300" dirty="0"/>
          </a:p>
        </p:txBody>
      </p:sp>
      <p:sp>
        <p:nvSpPr>
          <p:cNvPr id="16" name="Text 14"/>
          <p:cNvSpPr/>
          <p:nvPr/>
        </p:nvSpPr>
        <p:spPr>
          <a:xfrm>
            <a:off x="3749040" y="3712464"/>
            <a:ext cx="5074920" cy="365760"/>
          </a:xfrm>
          <a:prstGeom prst="rect">
            <a:avLst/>
          </a:prstGeom>
          <a:noFill/>
          <a:ln/>
        </p:spPr>
        <p:txBody>
          <a:bodyPr wrap="square" rtlCol="0" anchor="ctr"/>
          <a:lstStyle/>
          <a:p>
            <a:pPr marL="0" indent="0">
              <a:buNone/>
            </a:pPr>
            <a:r>
              <a:rPr lang="en-US" sz="1300" b="1" dirty="0">
                <a:solidFill>
                  <a:srgbClr val="00B4F0"/>
                </a:solidFill>
              </a:rPr>
              <a:t>7.  </a:t>
            </a:r>
            <a:r>
              <a:rPr lang="en-US" sz="1300" dirty="0">
                <a:solidFill>
                  <a:srgbClr val="FFFFFF"/>
                </a:solidFill>
                <a:latin typeface="Calibri" pitchFamily="34" charset="0"/>
                <a:ea typeface="Calibri" pitchFamily="34" charset="-122"/>
                <a:cs typeface="Calibri" pitchFamily="34" charset="-120"/>
              </a:rPr>
              <a:t>Tap the Submit button (this will present you with three choices)</a:t>
            </a:r>
            <a:endParaRPr lang="en-US" sz="1300" dirty="0"/>
          </a:p>
        </p:txBody>
      </p:sp>
      <p:sp>
        <p:nvSpPr>
          <p:cNvPr id="17" name="Text 15"/>
          <p:cNvSpPr/>
          <p:nvPr/>
        </p:nvSpPr>
        <p:spPr>
          <a:xfrm>
            <a:off x="3749040" y="4105656"/>
            <a:ext cx="5074920" cy="365760"/>
          </a:xfrm>
          <a:prstGeom prst="rect">
            <a:avLst/>
          </a:prstGeom>
          <a:noFill/>
          <a:ln/>
        </p:spPr>
        <p:txBody>
          <a:bodyPr wrap="square" rtlCol="0" anchor="ctr"/>
          <a:lstStyle/>
          <a:p>
            <a:pPr marL="0" indent="0">
              <a:buNone/>
            </a:pPr>
            <a:r>
              <a:rPr lang="en-US" sz="1300" b="1" dirty="0">
                <a:solidFill>
                  <a:srgbClr val="00B4F0"/>
                </a:solidFill>
              </a:rPr>
              <a:t>8.  </a:t>
            </a:r>
            <a:r>
              <a:rPr lang="en-US" sz="1300" dirty="0">
                <a:solidFill>
                  <a:srgbClr val="FFFFFF"/>
                </a:solidFill>
                <a:latin typeface="Calibri" pitchFamily="34" charset="0"/>
                <a:ea typeface="Calibri" pitchFamily="34" charset="-122"/>
                <a:cs typeface="Calibri" pitchFamily="34" charset="-120"/>
              </a:rPr>
              <a:t>Attach the three files, and then click Submit</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0" y="4389120"/>
            <a:ext cx="9144000" cy="754380"/>
          </a:xfrm>
          <a:prstGeom prst="rect">
            <a:avLst/>
          </a:prstGeom>
          <a:solidFill>
            <a:srgbClr val="091A35">
              <a:alpha val="70000"/>
            </a:srgbClr>
          </a:solidFill>
          <a:ln/>
        </p:spPr>
      </p:sp>
      <p:sp>
        <p:nvSpPr>
          <p:cNvPr id="3" name="Text 1"/>
          <p:cNvSpPr/>
          <p:nvPr/>
        </p:nvSpPr>
        <p:spPr>
          <a:xfrm>
            <a:off x="182880" y="4846320"/>
            <a:ext cx="3657600" cy="228600"/>
          </a:xfrm>
          <a:prstGeom prst="rect">
            <a:avLst/>
          </a:prstGeom>
          <a:noFill/>
          <a:ln/>
        </p:spPr>
        <p:txBody>
          <a:bodyPr wrap="square" lIns="0" tIns="0" rIns="0" bIns="0" rtlCol="0" anchor="ctr"/>
          <a:lstStyle/>
          <a:p>
            <a:pPr marL="0" indent="0">
              <a:buNone/>
            </a:pPr>
            <a:r>
              <a:rPr lang="en-US" sz="900" dirty="0">
                <a:solidFill>
                  <a:srgbClr val="8FA8C0"/>
                </a:solidFill>
                <a:latin typeface="Calibri" pitchFamily="34" charset="0"/>
                <a:ea typeface="Calibri" pitchFamily="34" charset="-122"/>
                <a:cs typeface="Calibri" pitchFamily="34" charset="-120"/>
              </a:rPr>
              <a:t>©Simplilearn. All rights reserved.</a:t>
            </a:r>
            <a:endParaRPr lang="en-US" sz="900" dirty="0"/>
          </a:p>
        </p:txBody>
      </p:sp>
      <p:sp>
        <p:nvSpPr>
          <p:cNvPr id="4" name="Text 2"/>
          <p:cNvSpPr/>
          <p:nvPr/>
        </p:nvSpPr>
        <p:spPr>
          <a:xfrm>
            <a:off x="7863840" y="4846320"/>
            <a:ext cx="685800" cy="228600"/>
          </a:xfrm>
          <a:prstGeom prst="rect">
            <a:avLst/>
          </a:prstGeom>
          <a:noFill/>
          <a:ln/>
        </p:spPr>
        <p:txBody>
          <a:bodyPr wrap="square" lIns="0" tIns="0" rIns="0" bIns="0" rtlCol="0" anchor="ctr"/>
          <a:lstStyle/>
          <a:p>
            <a:pPr marL="0" indent="0">
              <a:buNone/>
            </a:pPr>
            <a:r>
              <a:rPr lang="en-US" sz="1100" b="1" dirty="0">
                <a:solidFill>
                  <a:srgbClr val="FFFFFF"/>
                </a:solidFill>
                <a:latin typeface="Arial" pitchFamily="34" charset="0"/>
                <a:ea typeface="Arial" pitchFamily="34" charset="-122"/>
                <a:cs typeface="Arial" pitchFamily="34" charset="-120"/>
              </a:rPr>
              <a:t>simpli</a:t>
            </a:r>
            <a:endParaRPr lang="en-US" sz="1100" dirty="0"/>
          </a:p>
        </p:txBody>
      </p:sp>
      <p:sp>
        <p:nvSpPr>
          <p:cNvPr id="5" name="Text 3"/>
          <p:cNvSpPr/>
          <p:nvPr/>
        </p:nvSpPr>
        <p:spPr>
          <a:xfrm>
            <a:off x="8549640" y="4846320"/>
            <a:ext cx="548640" cy="228600"/>
          </a:xfrm>
          <a:prstGeom prst="rect">
            <a:avLst/>
          </a:prstGeom>
          <a:noFill/>
          <a:ln/>
        </p:spPr>
        <p:txBody>
          <a:bodyPr wrap="square" lIns="0" tIns="0" rIns="0" bIns="0" rtlCol="0" anchor="ctr"/>
          <a:lstStyle/>
          <a:p>
            <a:pPr marL="0" indent="0">
              <a:buNone/>
            </a:pPr>
            <a:r>
              <a:rPr lang="en-US" sz="1100" b="1" dirty="0">
                <a:solidFill>
                  <a:srgbClr val="FF6B35"/>
                </a:solidFill>
                <a:latin typeface="Arial" pitchFamily="34" charset="0"/>
                <a:ea typeface="Arial" pitchFamily="34" charset="-122"/>
                <a:cs typeface="Arial" pitchFamily="34" charset="-120"/>
              </a:rPr>
              <a:t>learn</a:t>
            </a:r>
            <a:endParaRPr lang="en-US" sz="1100" dirty="0"/>
          </a:p>
        </p:txBody>
      </p:sp>
      <p:sp>
        <p:nvSpPr>
          <p:cNvPr id="6" name="Text 4"/>
          <p:cNvSpPr/>
          <p:nvPr/>
        </p:nvSpPr>
        <p:spPr>
          <a:xfrm>
            <a:off x="274320" y="182880"/>
            <a:ext cx="3657600" cy="365760"/>
          </a:xfrm>
          <a:prstGeom prst="rect">
            <a:avLst/>
          </a:prstGeom>
          <a:noFill/>
          <a:ln/>
        </p:spPr>
        <p:txBody>
          <a:bodyPr wrap="square" lIns="0" tIns="0" rIns="0" bIns="0" rtlCol="0" anchor="ctr"/>
          <a:lstStyle/>
          <a:p>
            <a:pPr marL="0" indent="0">
              <a:buNone/>
            </a:pPr>
            <a:r>
              <a:rPr lang="en-US" sz="2000" b="1" dirty="0">
                <a:solidFill>
                  <a:srgbClr val="1A4A8A"/>
                </a:solidFill>
                <a:latin typeface="Arial Black" pitchFamily="34" charset="0"/>
                <a:ea typeface="Arial Black" pitchFamily="34" charset="-122"/>
                <a:cs typeface="Arial Black" pitchFamily="34" charset="-120"/>
              </a:rPr>
              <a:t>DATA AND</a:t>
            </a:r>
            <a:endParaRPr lang="en-US" sz="2000" dirty="0"/>
          </a:p>
        </p:txBody>
      </p:sp>
      <p:sp>
        <p:nvSpPr>
          <p:cNvPr id="7" name="Text 5"/>
          <p:cNvSpPr/>
          <p:nvPr/>
        </p:nvSpPr>
        <p:spPr>
          <a:xfrm>
            <a:off x="274320" y="502920"/>
            <a:ext cx="4572000" cy="274320"/>
          </a:xfrm>
          <a:prstGeom prst="rect">
            <a:avLst/>
          </a:prstGeom>
          <a:noFill/>
          <a:ln/>
        </p:spPr>
        <p:txBody>
          <a:bodyPr wrap="square" lIns="0" tIns="0" rIns="0" bIns="0" rtlCol="0" anchor="ctr"/>
          <a:lstStyle/>
          <a:p>
            <a:pPr marL="0" indent="0">
              <a:buNone/>
            </a:pPr>
            <a:r>
              <a:rPr lang="en-US" sz="1000" b="1" dirty="0">
                <a:solidFill>
                  <a:srgbClr val="1A4A8A"/>
                </a:solidFill>
                <a:latin typeface="Arial" pitchFamily="34" charset="0"/>
                <a:ea typeface="Arial" pitchFamily="34" charset="-122"/>
                <a:cs typeface="Arial" pitchFamily="34" charset="-120"/>
              </a:rPr>
              <a:t>ARTIFICIAL INTELLIGENCE</a:t>
            </a:r>
            <a:endParaRPr lang="en-US" sz="1000" dirty="0"/>
          </a:p>
        </p:txBody>
      </p:sp>
      <p:sp>
        <p:nvSpPr>
          <p:cNvPr id="8" name="Text 6"/>
          <p:cNvSpPr/>
          <p:nvPr/>
        </p:nvSpPr>
        <p:spPr>
          <a:xfrm>
            <a:off x="2286000" y="2103120"/>
            <a:ext cx="4572000" cy="731520"/>
          </a:xfrm>
          <a:prstGeom prst="rect">
            <a:avLst/>
          </a:prstGeom>
          <a:noFill/>
          <a:ln/>
        </p:spPr>
        <p:txBody>
          <a:bodyPr wrap="square" lIns="0" tIns="0" rIns="0" bIns="0" rtlCol="0" anchor="ctr"/>
          <a:lstStyle/>
          <a:p>
            <a:pPr marL="0" indent="0" algn="ctr">
              <a:buNone/>
            </a:pPr>
            <a:r>
              <a:rPr lang="en-US" sz="3400" b="1" dirty="0">
                <a:solidFill>
                  <a:srgbClr val="FFFFFF"/>
                </a:solidFill>
                <a:latin typeface="Calibri" pitchFamily="34" charset="0"/>
                <a:ea typeface="Calibri" pitchFamily="34" charset="-122"/>
                <a:cs typeface="Calibri" pitchFamily="34" charset="-120"/>
              </a:rPr>
              <a:t>Thank You</a:t>
            </a:r>
            <a:endParaRPr lang="en-US" sz="3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854</Words>
  <Application>Microsoft Office PowerPoint</Application>
  <PresentationFormat>On-screen Show (16:9)</PresentationFormat>
  <Paragraphs>156</Paragraphs>
  <Slides>14</Slides>
  <Notes>14</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14</vt:i4>
      </vt:variant>
    </vt:vector>
  </HeadingPairs>
  <TitlesOfParts>
    <vt:vector size="20" baseType="lpstr">
      <vt:lpstr>Arial</vt:lpstr>
      <vt:lpstr>Arial Black</vt:lpstr>
      <vt:lpstr>Calibri</vt:lpstr>
      <vt:lpstr>Consolas</vt:lpstr>
      <vt:lpstr>Trebuchet MS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Comparison of Region Based on Sales</dc:title>
  <dc:subject>PptxGenJS Presentation</dc:subject>
  <dc:creator>PptxGenJS</dc:creator>
  <cp:lastModifiedBy>Jaswanth Kumar Yadavalli [Student-PECS]</cp:lastModifiedBy>
  <cp:revision>2</cp:revision>
  <dcterms:created xsi:type="dcterms:W3CDTF">2026-04-16T09:08:01Z</dcterms:created>
  <dcterms:modified xsi:type="dcterms:W3CDTF">2026-04-16T09:28:26Z</dcterms:modified>
</cp:coreProperties>
</file>